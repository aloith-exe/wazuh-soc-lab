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1" r:id="rId4"/>
    <p:sldId id="257" r:id="rId5"/>
    <p:sldId id="258" r:id="rId6"/>
    <p:sldId id="259" r:id="rId7"/>
    <p:sldId id="260" r:id="rId8"/>
    <p:sldId id="263" r:id="rId9"/>
    <p:sldId id="262" r:id="rId10"/>
    <p:sldId id="269" r:id="rId11"/>
    <p:sldId id="270" r:id="rId12"/>
    <p:sldId id="271" r:id="rId13"/>
    <p:sldId id="272" r:id="rId14"/>
    <p:sldId id="273" r:id="rId15"/>
    <p:sldId id="274" r:id="rId16"/>
    <p:sldId id="275" r:id="rId17"/>
    <p:sldId id="27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94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4A1D-249E-2802-A83B-5F1E3AF2A1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4AF8A-FFC1-C863-7B1A-39B6C7BAD4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DF9E82-B544-5E6E-B7F9-0EEAD1F53EA1}"/>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5" name="Footer Placeholder 4">
            <a:extLst>
              <a:ext uri="{FF2B5EF4-FFF2-40B4-BE49-F238E27FC236}">
                <a16:creationId xmlns:a16="http://schemas.microsoft.com/office/drawing/2014/main" id="{71FCB575-F02B-DD30-99C1-48D6AE5DF72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1849FA-E394-D2CF-C1EA-D30B3E9AA910}"/>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552206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E07CD-5B25-FA25-1D74-A3225122AB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F42C05-C465-7130-F367-172C26CD6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65EC9-1848-0E23-8FD3-1349332E0B22}"/>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5" name="Footer Placeholder 4">
            <a:extLst>
              <a:ext uri="{FF2B5EF4-FFF2-40B4-BE49-F238E27FC236}">
                <a16:creationId xmlns:a16="http://schemas.microsoft.com/office/drawing/2014/main" id="{F7CDA104-86D1-2071-8F55-E0E278BD40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AE44920-3897-CE31-6A31-61DBB4995080}"/>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1212966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44C9-0FD0-27D3-A506-AB2FF139F5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00BB69-F60B-34F7-5910-CFFF783B10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4B775D-E728-99BB-7A99-EEF91A124F81}"/>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5" name="Footer Placeholder 4">
            <a:extLst>
              <a:ext uri="{FF2B5EF4-FFF2-40B4-BE49-F238E27FC236}">
                <a16:creationId xmlns:a16="http://schemas.microsoft.com/office/drawing/2014/main" id="{4FCA95FE-DD29-B6E3-B93E-A4DEC92670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97895D-021C-60C0-6C01-D2AB85A983A5}"/>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3439793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1B6AB-03CA-A41B-CF3D-2B773B7DF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DC9483-D0A2-5FFA-8B96-F54832D905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B4A55F-CD27-2B1E-1BCC-ED301E49DC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D6C5B8-9FEA-B63A-6C9F-8FCD0FFEDDA2}"/>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6" name="Footer Placeholder 5">
            <a:extLst>
              <a:ext uri="{FF2B5EF4-FFF2-40B4-BE49-F238E27FC236}">
                <a16:creationId xmlns:a16="http://schemas.microsoft.com/office/drawing/2014/main" id="{9402789A-4584-7410-CC41-18599767B98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02B8ABF-7467-457C-EB8C-8E40823C3365}"/>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1704486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1505-903E-F2B1-002B-88CD245C47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F00A09-F9B1-C14D-0A08-9C5F70D3D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17B906-D38C-B959-1691-8C17187405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B329C7-A30A-4135-4642-4C96D08D61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43B01D-4635-205A-D2D4-18AD5C6E69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DC03B6-A3B6-7C6C-806D-47A88A685D52}"/>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8" name="Footer Placeholder 7">
            <a:extLst>
              <a:ext uri="{FF2B5EF4-FFF2-40B4-BE49-F238E27FC236}">
                <a16:creationId xmlns:a16="http://schemas.microsoft.com/office/drawing/2014/main" id="{7B32187E-4D9C-12A8-2B31-4CB68152541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F2A4454-43E4-0F38-99D2-815A11F23D00}"/>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340556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FBD76-07FF-1AA5-2B23-A165A81844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D0D609-53D2-0DA4-E1F8-21111E6561A9}"/>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4" name="Footer Placeholder 3">
            <a:extLst>
              <a:ext uri="{FF2B5EF4-FFF2-40B4-BE49-F238E27FC236}">
                <a16:creationId xmlns:a16="http://schemas.microsoft.com/office/drawing/2014/main" id="{52A89948-C5EB-2CE5-4155-8EA7E6B53B5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3261050-C96F-82FD-338D-2ADAD2A634C6}"/>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1156672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1EB0BE-760F-52B6-ECAB-F74190BFC6CB}"/>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3" name="Footer Placeholder 2">
            <a:extLst>
              <a:ext uri="{FF2B5EF4-FFF2-40B4-BE49-F238E27FC236}">
                <a16:creationId xmlns:a16="http://schemas.microsoft.com/office/drawing/2014/main" id="{93D5477E-4B86-0682-D323-5B14E28A263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38E1DDD-BFC3-687F-E1D1-3B1B24A77180}"/>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1334815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61DE-47A9-3490-8171-A7D101027C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F2B22-4610-16AC-B8E7-47B6260A23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AEE40C-F85B-F559-E685-C899A5B89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3CCFC-5093-CFCE-35D2-F0E7461F6DC4}"/>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6" name="Footer Placeholder 5">
            <a:extLst>
              <a:ext uri="{FF2B5EF4-FFF2-40B4-BE49-F238E27FC236}">
                <a16:creationId xmlns:a16="http://schemas.microsoft.com/office/drawing/2014/main" id="{3694E018-75BB-AD8C-4B08-27BAB32557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4764CAA-7263-70AD-777A-C0FF38120168}"/>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3145221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512C-B85F-0FE8-75E7-B1BC7DA686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9A7F15-5E51-F929-4B35-4DCF7F0E8A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218B881-E1C0-4791-91E1-93425A247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50BDB9-C148-6A5A-BB26-649CA9FC4881}"/>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6" name="Footer Placeholder 5">
            <a:extLst>
              <a:ext uri="{FF2B5EF4-FFF2-40B4-BE49-F238E27FC236}">
                <a16:creationId xmlns:a16="http://schemas.microsoft.com/office/drawing/2014/main" id="{CB6D8512-4D2F-D5F5-56B2-05999FEF376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391B921-C472-401D-E626-455F6FE68B32}"/>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3856265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B5951-5747-2B89-3EA9-68BF4BF31B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7C6479-8651-FE9F-D8CB-86B8F5E80E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6C11B3-C686-C4DD-DFC6-8631C056C583}"/>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5" name="Footer Placeholder 4">
            <a:extLst>
              <a:ext uri="{FF2B5EF4-FFF2-40B4-BE49-F238E27FC236}">
                <a16:creationId xmlns:a16="http://schemas.microsoft.com/office/drawing/2014/main" id="{9AE6ECC8-F12D-2CC6-C3DA-FBB50876B5B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1782BD-DDE0-4C7D-D566-D18E9F5C14CF}"/>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3708824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17643F-D0DD-45A3-D3E2-580A4E022B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6257F5-0F82-BA20-7320-B4306543C4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A3822-7C1F-25DE-83D5-3730D12C63A3}"/>
              </a:ext>
            </a:extLst>
          </p:cNvPr>
          <p:cNvSpPr>
            <a:spLocks noGrp="1"/>
          </p:cNvSpPr>
          <p:nvPr>
            <p:ph type="dt" sz="half" idx="10"/>
          </p:nvPr>
        </p:nvSpPr>
        <p:spPr/>
        <p:txBody>
          <a:bodyPr/>
          <a:lstStyle/>
          <a:p>
            <a:fld id="{62A1CBE4-7396-47E4-8BF4-806FBE48E094}" type="datetimeFigureOut">
              <a:rPr lang="en-US" smtClean="0"/>
              <a:t>6/11/2026</a:t>
            </a:fld>
            <a:endParaRPr lang="en-US" dirty="0"/>
          </a:p>
        </p:txBody>
      </p:sp>
      <p:sp>
        <p:nvSpPr>
          <p:cNvPr id="5" name="Footer Placeholder 4">
            <a:extLst>
              <a:ext uri="{FF2B5EF4-FFF2-40B4-BE49-F238E27FC236}">
                <a16:creationId xmlns:a16="http://schemas.microsoft.com/office/drawing/2014/main" id="{7C82D2E8-0C4A-9146-E9C7-1F8492F19EE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58465D8-633F-2971-4518-7F9918B2C2ED}"/>
              </a:ext>
            </a:extLst>
          </p:cNvPr>
          <p:cNvSpPr>
            <a:spLocks noGrp="1"/>
          </p:cNvSpPr>
          <p:nvPr>
            <p:ph type="sldNum" sz="quarter" idx="12"/>
          </p:nvPr>
        </p:nvSpPr>
        <p:spPr/>
        <p:txBody>
          <a:bodyPr/>
          <a:lstStyle/>
          <a:p>
            <a:fld id="{194E24B1-6221-4574-B81B-EC9BA8B559EF}" type="slidenum">
              <a:rPr lang="en-US" smtClean="0"/>
              <a:t>‹#›</a:t>
            </a:fld>
            <a:endParaRPr lang="en-US" dirty="0"/>
          </a:p>
        </p:txBody>
      </p:sp>
    </p:spTree>
    <p:extLst>
      <p:ext uri="{BB962C8B-B14F-4D97-AF65-F5344CB8AC3E}">
        <p14:creationId xmlns:p14="http://schemas.microsoft.com/office/powerpoint/2010/main" val="2504178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BA155C-D62D-8EE1-C82B-BDF2BC3F58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7A399-7D96-0BB6-FDD0-6B4705685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335BB1-9962-F77E-9A15-B2C7E352F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1CBE4-7396-47E4-8BF4-806FBE48E094}" type="datetimeFigureOut">
              <a:rPr lang="en-US" smtClean="0"/>
              <a:t>6/11/2026</a:t>
            </a:fld>
            <a:endParaRPr lang="en-US" dirty="0"/>
          </a:p>
        </p:txBody>
      </p:sp>
      <p:sp>
        <p:nvSpPr>
          <p:cNvPr id="5" name="Footer Placeholder 4">
            <a:extLst>
              <a:ext uri="{FF2B5EF4-FFF2-40B4-BE49-F238E27FC236}">
                <a16:creationId xmlns:a16="http://schemas.microsoft.com/office/drawing/2014/main" id="{ED12C815-D02B-F7C5-01CE-079D9B4C6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C7610D5-9AE4-3A62-86AE-C3F566FD3A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E24B1-6221-4574-B81B-EC9BA8B559EF}" type="slidenum">
              <a:rPr lang="en-US" smtClean="0"/>
              <a:t>‹#›</a:t>
            </a:fld>
            <a:endParaRPr lang="en-US" dirty="0"/>
          </a:p>
        </p:txBody>
      </p:sp>
    </p:spTree>
    <p:extLst>
      <p:ext uri="{BB962C8B-B14F-4D97-AF65-F5344CB8AC3E}">
        <p14:creationId xmlns:p14="http://schemas.microsoft.com/office/powerpoint/2010/main" val="769171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0.png"/><Relationship Id="rId3" Type="http://schemas.openxmlformats.org/officeDocument/2006/relationships/slide" Target="slide4.xml"/><Relationship Id="rId7" Type="http://schemas.openxmlformats.org/officeDocument/2006/relationships/image" Target="../media/image40.png"/><Relationship Id="rId12" Type="http://schemas.openxmlformats.org/officeDocument/2006/relationships/slide" Target="slide7.xml"/><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slide" Target="slide5.xml"/><Relationship Id="rId11" Type="http://schemas.openxmlformats.org/officeDocument/2006/relationships/image" Target="../media/image6.png"/><Relationship Id="rId5" Type="http://schemas.openxmlformats.org/officeDocument/2006/relationships/image" Target="../media/image4.png"/><Relationship Id="rId10" Type="http://schemas.openxmlformats.org/officeDocument/2006/relationships/image" Target="../media/image50.png"/><Relationship Id="rId4" Type="http://schemas.openxmlformats.org/officeDocument/2006/relationships/image" Target="../media/image30.png"/><Relationship Id="rId9" Type="http://schemas.openxmlformats.org/officeDocument/2006/relationships/slide" Target="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AFB5AF-89C5-1173-EE84-9312DB6200D2}"/>
              </a:ext>
            </a:extLst>
          </p:cNvPr>
          <p:cNvSpPr>
            <a:spLocks noGrp="1"/>
          </p:cNvSpPr>
          <p:nvPr>
            <p:ph type="title"/>
          </p:nvPr>
        </p:nvSpPr>
        <p:spPr>
          <a:xfrm>
            <a:off x="-8321040" y="2766218"/>
            <a:ext cx="10515600" cy="1325563"/>
          </a:xfrm>
        </p:spPr>
        <p:txBody>
          <a:bodyPr/>
          <a:lstStyle/>
          <a:p>
            <a:pPr algn="ctr"/>
            <a:r>
              <a:rPr lang="en-US" b="1" dirty="0">
                <a:solidFill>
                  <a:schemeClr val="bg1"/>
                </a:solidFill>
                <a:latin typeface="Equinox Bold" panose="02000500000000000000" pitchFamily="2" charset="0"/>
              </a:rPr>
              <a:t>SOC Lab: Wazuh SIEM</a:t>
            </a:r>
          </a:p>
        </p:txBody>
      </p:sp>
      <p:pic>
        <p:nvPicPr>
          <p:cNvPr id="8" name="Picture 7">
            <a:extLst>
              <a:ext uri="{FF2B5EF4-FFF2-40B4-BE49-F238E27FC236}">
                <a16:creationId xmlns:a16="http://schemas.microsoft.com/office/drawing/2014/main" id="{B4FC4AC3-6772-26F2-F563-7ED2F9E33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67403" y="4429432"/>
            <a:ext cx="1719532" cy="1719532"/>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28B2C6A5-9DDC-0361-2893-870740BA8B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671" y="488042"/>
            <a:ext cx="1679971" cy="1679971"/>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D7C87D4D-416A-BB26-D074-8E8EBAC77EF1}"/>
              </a:ext>
            </a:extLst>
          </p:cNvPr>
          <p:cNvSpPr txBox="1"/>
          <p:nvPr/>
        </p:nvSpPr>
        <p:spPr>
          <a:xfrm>
            <a:off x="3969456" y="3044278"/>
            <a:ext cx="4253087" cy="769441"/>
          </a:xfrm>
          <a:prstGeom prst="rect">
            <a:avLst/>
          </a:prstGeom>
          <a:noFill/>
        </p:spPr>
        <p:txBody>
          <a:bodyPr wrap="none" rtlCol="0">
            <a:spAutoFit/>
          </a:bodyPr>
          <a:lstStyle/>
          <a:p>
            <a:r>
              <a:rPr lang="en-US" sz="4400" dirty="0">
                <a:solidFill>
                  <a:schemeClr val="bg1"/>
                </a:solidFill>
                <a:latin typeface="Equinox Bold" panose="02000500000000000000" pitchFamily="2" charset="0"/>
              </a:rPr>
              <a:t>INTRODUCTION</a:t>
            </a:r>
          </a:p>
        </p:txBody>
      </p:sp>
    </p:spTree>
    <p:extLst>
      <p:ext uri="{BB962C8B-B14F-4D97-AF65-F5344CB8AC3E}">
        <p14:creationId xmlns:p14="http://schemas.microsoft.com/office/powerpoint/2010/main" val="4274761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8D57CF1F-87A1-FD39-D726-02CD60BCCC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984074-9C31-11EF-3000-2E0E08C40B7B}"/>
              </a:ext>
            </a:extLst>
          </p:cNvPr>
          <p:cNvSpPr>
            <a:spLocks noGrp="1"/>
          </p:cNvSpPr>
          <p:nvPr>
            <p:ph type="title"/>
          </p:nvPr>
        </p:nvSpPr>
        <p:spPr>
          <a:xfrm>
            <a:off x="838200" y="2766218"/>
            <a:ext cx="10515600" cy="1325563"/>
          </a:xfrm>
        </p:spPr>
        <p:txBody>
          <a:bodyPr/>
          <a:lstStyle/>
          <a:p>
            <a:pPr algn="ctr"/>
            <a:r>
              <a:rPr lang="en-US" dirty="0">
                <a:solidFill>
                  <a:schemeClr val="bg1"/>
                </a:solidFill>
                <a:latin typeface="Equinox Bold" panose="02000500000000000000" pitchFamily="2" charset="0"/>
              </a:rPr>
              <a:t>Cyber sentinel: Wazuh SIEM</a:t>
            </a:r>
          </a:p>
        </p:txBody>
      </p:sp>
      <p:pic>
        <p:nvPicPr>
          <p:cNvPr id="8" name="Picture 7">
            <a:extLst>
              <a:ext uri="{FF2B5EF4-FFF2-40B4-BE49-F238E27FC236}">
                <a16:creationId xmlns:a16="http://schemas.microsoft.com/office/drawing/2014/main" id="{4279DA63-9117-9D9B-C8A1-1B720E6876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4268" y="4444181"/>
            <a:ext cx="1719532" cy="1719532"/>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38F162B0-B83E-B3B3-D4A3-E6C30735B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591281"/>
            <a:ext cx="1679971" cy="16799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0548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C0AA3FD2-5231-192D-F8D7-3A98D5AA72CD}"/>
                  </a:ext>
                </a:extLst>
              </p:cNvPr>
              <p:cNvGraphicFramePr>
                <a:graphicFrameLocks noChangeAspect="1"/>
              </p:cNvGraphicFramePr>
              <p:nvPr>
                <p:extLst>
                  <p:ext uri="{D42A27DB-BD31-4B8C-83A1-F6EECF244321}">
                    <p14:modId xmlns:p14="http://schemas.microsoft.com/office/powerpoint/2010/main" val="3766501342"/>
                  </p:ext>
                </p:extLst>
              </p:nvPr>
            </p:nvGraphicFramePr>
            <p:xfrm>
              <a:off x="0" y="0"/>
              <a:ext cx="6096000" cy="3429000"/>
            </p:xfrm>
            <a:graphic>
              <a:graphicData uri="http://schemas.microsoft.com/office/powerpoint/2016/slidezoom">
                <pslz:sldZm>
                  <pslz:sldZmObj sldId="257" cId="3607120191">
                    <pslz:zmPr id="{A68236FD-B925-4DB2-AFEE-859292448369}" returnToParent="0" transitionDur="1000">
                      <p166:blipFill xmlns:p166="http://schemas.microsoft.com/office/powerpoint/2016/6/main">
                        <a:blip r:embed="rId2"/>
                        <a:stretch>
                          <a:fillRect/>
                        </a:stretch>
                      </p166:blipFill>
                      <p166:spPr xmlns:p166="http://schemas.microsoft.com/office/powerpoint/2016/6/main">
                        <a:xfrm>
                          <a:off x="0" y="0"/>
                          <a:ext cx="6096000" cy="3429000"/>
                        </a:xfrm>
                        <a:prstGeom prst="rect">
                          <a:avLst/>
                        </a:prstGeom>
                        <a:ln w="3175">
                          <a:solidFill>
                            <a:prstClr val="ltGray"/>
                          </a:solidFill>
                        </a:ln>
                      </p166:spPr>
                    </pslz:zmPr>
                  </pslz:sldZmObj>
                </pslz:sldZm>
              </a:graphicData>
            </a:graphic>
          </p:graphicFrame>
        </mc:Choice>
        <mc:Fallback xmlns="">
          <p:pic>
            <p:nvPicPr>
              <p:cNvPr id="4" name="Slide Zoom 3">
                <a:hlinkClick r:id="rId3" action="ppaction://hlinksldjump"/>
                <a:extLst>
                  <a:ext uri="{FF2B5EF4-FFF2-40B4-BE49-F238E27FC236}">
                    <a16:creationId xmlns:a16="http://schemas.microsoft.com/office/drawing/2014/main" id="{C0AA3FD2-5231-192D-F8D7-3A98D5AA72CD}"/>
                  </a:ext>
                </a:extLst>
              </p:cNvPr>
              <p:cNvPicPr>
                <a:picLocks noGrp="1" noRot="1" noChangeAspect="1" noMove="1" noResize="1" noEditPoints="1" noAdjustHandles="1" noChangeArrowheads="1" noChangeShapeType="1"/>
              </p:cNvPicPr>
              <p:nvPr/>
            </p:nvPicPr>
            <p:blipFill>
              <a:blip r:embed="rId4"/>
              <a:stretch>
                <a:fillRect/>
              </a:stretch>
            </p:blipFill>
            <p:spPr>
              <a:xfrm>
                <a:off x="0" y="0"/>
                <a:ext cx="6096000" cy="3429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CCDE4688-9EB6-67DF-9A58-5A9796C7E8E1}"/>
                  </a:ext>
                </a:extLst>
              </p:cNvPr>
              <p:cNvGraphicFramePr>
                <a:graphicFrameLocks noChangeAspect="1"/>
              </p:cNvGraphicFramePr>
              <p:nvPr>
                <p:extLst>
                  <p:ext uri="{D42A27DB-BD31-4B8C-83A1-F6EECF244321}">
                    <p14:modId xmlns:p14="http://schemas.microsoft.com/office/powerpoint/2010/main" val="2538604105"/>
                  </p:ext>
                </p:extLst>
              </p:nvPr>
            </p:nvGraphicFramePr>
            <p:xfrm>
              <a:off x="6096000" y="0"/>
              <a:ext cx="6096000" cy="3429000"/>
            </p:xfrm>
            <a:graphic>
              <a:graphicData uri="http://schemas.microsoft.com/office/powerpoint/2016/slidezoom">
                <pslz:sldZm>
                  <pslz:sldZmObj sldId="258" cId="2282799868">
                    <pslz:zmPr id="{C57C63B0-8055-4DF5-AF0B-5FA9FCBFCAB8}" returnToParent="0" transitionDur="1000">
                      <p166:blipFill xmlns:p166="http://schemas.microsoft.com/office/powerpoint/2016/6/main">
                        <a:blip r:embed="rId5"/>
                        <a:stretch>
                          <a:fillRect/>
                        </a:stretch>
                      </p166:blipFill>
                      <p166:spPr xmlns:p166="http://schemas.microsoft.com/office/powerpoint/2016/6/main">
                        <a:xfrm>
                          <a:off x="0" y="0"/>
                          <a:ext cx="6096000" cy="3429000"/>
                        </a:xfrm>
                        <a:prstGeom prst="rect">
                          <a:avLst/>
                        </a:prstGeom>
                        <a:ln w="3175">
                          <a:solidFill>
                            <a:prstClr val="ltGray"/>
                          </a:solidFill>
                        </a:ln>
                      </p166:spPr>
                    </pslz:zmPr>
                  </pslz:sldZmObj>
                </pslz:sldZm>
              </a:graphicData>
            </a:graphic>
          </p:graphicFrame>
        </mc:Choice>
        <mc:Fallback xmlns="">
          <p:pic>
            <p:nvPicPr>
              <p:cNvPr id="6" name="Slide Zoom 5">
                <a:hlinkClick r:id="rId6" action="ppaction://hlinksldjump"/>
                <a:extLst>
                  <a:ext uri="{FF2B5EF4-FFF2-40B4-BE49-F238E27FC236}">
                    <a16:creationId xmlns:a16="http://schemas.microsoft.com/office/drawing/2014/main" id="{CCDE4688-9EB6-67DF-9A58-5A9796C7E8E1}"/>
                  </a:ext>
                </a:extLst>
              </p:cNvPr>
              <p:cNvPicPr>
                <a:picLocks noGrp="1" noRot="1" noChangeAspect="1" noMove="1" noResize="1" noEditPoints="1" noAdjustHandles="1" noChangeArrowheads="1" noChangeShapeType="1"/>
              </p:cNvPicPr>
              <p:nvPr/>
            </p:nvPicPr>
            <p:blipFill>
              <a:blip r:embed="rId7"/>
              <a:stretch>
                <a:fillRect/>
              </a:stretch>
            </p:blipFill>
            <p:spPr>
              <a:xfrm>
                <a:off x="6096000" y="0"/>
                <a:ext cx="6096000" cy="3429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969EDFED-F8FC-9D3C-3D79-4979D76267E5}"/>
                  </a:ext>
                </a:extLst>
              </p:cNvPr>
              <p:cNvGraphicFramePr>
                <a:graphicFrameLocks noChangeAspect="1"/>
              </p:cNvGraphicFramePr>
              <p:nvPr>
                <p:extLst>
                  <p:ext uri="{D42A27DB-BD31-4B8C-83A1-F6EECF244321}">
                    <p14:modId xmlns:p14="http://schemas.microsoft.com/office/powerpoint/2010/main" val="1015508634"/>
                  </p:ext>
                </p:extLst>
              </p:nvPr>
            </p:nvGraphicFramePr>
            <p:xfrm>
              <a:off x="0" y="3429000"/>
              <a:ext cx="6096000" cy="3429000"/>
            </p:xfrm>
            <a:graphic>
              <a:graphicData uri="http://schemas.microsoft.com/office/powerpoint/2016/slidezoom">
                <pslz:sldZm>
                  <pslz:sldZmObj sldId="259" cId="771813072">
                    <pslz:zmPr id="{3D70FFFE-6368-4662-89C2-FC16940D13B9}" returnToParent="0" transitionDur="1000">
                      <p166:blipFill xmlns:p166="http://schemas.microsoft.com/office/powerpoint/2016/6/main">
                        <a:blip r:embed="rId8"/>
                        <a:stretch>
                          <a:fillRect/>
                        </a:stretch>
                      </p166:blipFill>
                      <p166:spPr xmlns:p166="http://schemas.microsoft.com/office/powerpoint/2016/6/main">
                        <a:xfrm>
                          <a:off x="0" y="0"/>
                          <a:ext cx="6096000" cy="3429000"/>
                        </a:xfrm>
                        <a:prstGeom prst="rect">
                          <a:avLst/>
                        </a:prstGeom>
                        <a:ln w="3175">
                          <a:solidFill>
                            <a:prstClr val="ltGray"/>
                          </a:solidFill>
                        </a:ln>
                      </p166:spPr>
                    </pslz:zmPr>
                  </pslz:sldZmObj>
                </pslz:sldZm>
              </a:graphicData>
            </a:graphic>
          </p:graphicFrame>
        </mc:Choice>
        <mc:Fallback xmlns="">
          <p:pic>
            <p:nvPicPr>
              <p:cNvPr id="8" name="Slide Zoom 7">
                <a:hlinkClick r:id="rId9" action="ppaction://hlinksldjump"/>
                <a:extLst>
                  <a:ext uri="{FF2B5EF4-FFF2-40B4-BE49-F238E27FC236}">
                    <a16:creationId xmlns:a16="http://schemas.microsoft.com/office/drawing/2014/main" id="{969EDFED-F8FC-9D3C-3D79-4979D76267E5}"/>
                  </a:ext>
                </a:extLst>
              </p:cNvPr>
              <p:cNvPicPr>
                <a:picLocks noGrp="1" noRot="1" noChangeAspect="1" noMove="1" noResize="1" noEditPoints="1" noAdjustHandles="1" noChangeArrowheads="1" noChangeShapeType="1"/>
              </p:cNvPicPr>
              <p:nvPr/>
            </p:nvPicPr>
            <p:blipFill>
              <a:blip r:embed="rId10"/>
              <a:stretch>
                <a:fillRect/>
              </a:stretch>
            </p:blipFill>
            <p:spPr>
              <a:xfrm>
                <a:off x="0" y="3429000"/>
                <a:ext cx="6096000" cy="3429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F2682CBD-89DF-E6CE-5B85-EE78AC50054E}"/>
                  </a:ext>
                </a:extLst>
              </p:cNvPr>
              <p:cNvGraphicFramePr>
                <a:graphicFrameLocks noChangeAspect="1"/>
              </p:cNvGraphicFramePr>
              <p:nvPr>
                <p:extLst>
                  <p:ext uri="{D42A27DB-BD31-4B8C-83A1-F6EECF244321}">
                    <p14:modId xmlns:p14="http://schemas.microsoft.com/office/powerpoint/2010/main" val="440181225"/>
                  </p:ext>
                </p:extLst>
              </p:nvPr>
            </p:nvGraphicFramePr>
            <p:xfrm>
              <a:off x="6096000" y="3429000"/>
              <a:ext cx="6096000" cy="3429000"/>
            </p:xfrm>
            <a:graphic>
              <a:graphicData uri="http://schemas.microsoft.com/office/powerpoint/2016/slidezoom">
                <pslz:sldZm>
                  <pslz:sldZmObj sldId="260" cId="1815883070">
                    <pslz:zmPr id="{D1F54093-E082-4DFC-B44D-FB3CD57091C8}" returnToParent="0" transitionDur="1000">
                      <p166:blipFill xmlns:p166="http://schemas.microsoft.com/office/powerpoint/2016/6/main">
                        <a:blip r:embed="rId11"/>
                        <a:stretch>
                          <a:fillRect/>
                        </a:stretch>
                      </p166:blipFill>
                      <p166:spPr xmlns:p166="http://schemas.microsoft.com/office/powerpoint/2016/6/main">
                        <a:xfrm>
                          <a:off x="0" y="0"/>
                          <a:ext cx="6096000" cy="3429000"/>
                        </a:xfrm>
                        <a:prstGeom prst="rect">
                          <a:avLst/>
                        </a:prstGeom>
                        <a:ln w="3175">
                          <a:solidFill>
                            <a:prstClr val="ltGray"/>
                          </a:solidFill>
                        </a:ln>
                      </p166:spPr>
                    </pslz:zmPr>
                  </pslz:sldZmObj>
                </pslz:sldZm>
              </a:graphicData>
            </a:graphic>
          </p:graphicFrame>
        </mc:Choice>
        <mc:Fallback xmlns="">
          <p:pic>
            <p:nvPicPr>
              <p:cNvPr id="10" name="Slide Zoom 9">
                <a:hlinkClick r:id="rId12" action="ppaction://hlinksldjump"/>
                <a:extLst>
                  <a:ext uri="{FF2B5EF4-FFF2-40B4-BE49-F238E27FC236}">
                    <a16:creationId xmlns:a16="http://schemas.microsoft.com/office/drawing/2014/main" id="{F2682CBD-89DF-E6CE-5B85-EE78AC50054E}"/>
                  </a:ext>
                </a:extLst>
              </p:cNvPr>
              <p:cNvPicPr>
                <a:picLocks noGrp="1" noRot="1" noChangeAspect="1" noMove="1" noResize="1" noEditPoints="1" noAdjustHandles="1" noChangeArrowheads="1" noChangeShapeType="1"/>
              </p:cNvPicPr>
              <p:nvPr/>
            </p:nvPicPr>
            <p:blipFill>
              <a:blip r:embed="rId13"/>
              <a:stretch>
                <a:fillRect/>
              </a:stretch>
            </p:blipFill>
            <p:spPr>
              <a:xfrm>
                <a:off x="6096000" y="3429000"/>
                <a:ext cx="6096000" cy="3429000"/>
              </a:xfrm>
              <a:prstGeom prst="rect">
                <a:avLst/>
              </a:prstGeom>
              <a:ln w="3175">
                <a:solidFill>
                  <a:prstClr val="ltGray"/>
                </a:solidFill>
              </a:ln>
            </p:spPr>
          </p:pic>
        </mc:Fallback>
      </mc:AlternateContent>
    </p:spTree>
    <p:extLst>
      <p:ext uri="{BB962C8B-B14F-4D97-AF65-F5344CB8AC3E}">
        <p14:creationId xmlns:p14="http://schemas.microsoft.com/office/powerpoint/2010/main" val="4210988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gs>
            <a:gs pos="56000">
              <a:schemeClr val="tx1"/>
            </a:gs>
            <a:gs pos="58000">
              <a:schemeClr val="tx1"/>
            </a:gs>
            <a:gs pos="57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B3F2C20E-4CB4-9D50-B52A-CB1906F81354}"/>
            </a:ext>
          </a:extLst>
        </p:cNvPr>
        <p:cNvGrpSpPr/>
        <p:nvPr/>
      </p:nvGrpSpPr>
      <p:grpSpPr>
        <a:xfrm>
          <a:off x="0" y="0"/>
          <a:ext cx="0" cy="0"/>
          <a:chOff x="0" y="0"/>
          <a:chExt cx="0" cy="0"/>
        </a:xfrm>
      </p:grpSpPr>
      <p:sp>
        <p:nvSpPr>
          <p:cNvPr id="6" name="Teardrop 5">
            <a:extLst>
              <a:ext uri="{FF2B5EF4-FFF2-40B4-BE49-F238E27FC236}">
                <a16:creationId xmlns:a16="http://schemas.microsoft.com/office/drawing/2014/main" id="{2B6A3C95-84EF-CF63-0465-6F0B1AC7DEDB}"/>
              </a:ext>
            </a:extLst>
          </p:cNvPr>
          <p:cNvSpPr/>
          <p:nvPr/>
        </p:nvSpPr>
        <p:spPr>
          <a:xfrm rot="5400000">
            <a:off x="8902840" y="3568841"/>
            <a:ext cx="3289160" cy="3289160"/>
          </a:xfrm>
          <a:prstGeom prst="teardrop">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9B5A77B3-57A2-056C-1AC8-3EE17EBF8024}"/>
              </a:ext>
            </a:extLst>
          </p:cNvPr>
          <p:cNvSpPr txBox="1"/>
          <p:nvPr/>
        </p:nvSpPr>
        <p:spPr>
          <a:xfrm>
            <a:off x="9997429" y="4105425"/>
            <a:ext cx="1099981" cy="2215991"/>
          </a:xfrm>
          <a:prstGeom prst="rect">
            <a:avLst/>
          </a:prstGeom>
          <a:noFill/>
        </p:spPr>
        <p:txBody>
          <a:bodyPr wrap="none" rtlCol="0">
            <a:noAutofit/>
          </a:bodyPr>
          <a:lstStyle/>
          <a:p>
            <a:r>
              <a:rPr lang="en-US" sz="13800" dirty="0">
                <a:solidFill>
                  <a:schemeClr val="bg1"/>
                </a:solidFill>
                <a:latin typeface="Impact" panose="020B0806030902050204" pitchFamily="34" charset="0"/>
              </a:rPr>
              <a:t>S</a:t>
            </a:r>
          </a:p>
        </p:txBody>
      </p:sp>
      <p:sp>
        <p:nvSpPr>
          <p:cNvPr id="3" name="Title 2">
            <a:extLst>
              <a:ext uri="{FF2B5EF4-FFF2-40B4-BE49-F238E27FC236}">
                <a16:creationId xmlns:a16="http://schemas.microsoft.com/office/drawing/2014/main" id="{188F17EB-FCE1-4F57-6250-D1D772D52BD5}"/>
              </a:ext>
            </a:extLst>
          </p:cNvPr>
          <p:cNvSpPr>
            <a:spLocks noGrp="1"/>
          </p:cNvSpPr>
          <p:nvPr>
            <p:ph type="title"/>
          </p:nvPr>
        </p:nvSpPr>
        <p:spPr>
          <a:xfrm>
            <a:off x="838200" y="365125"/>
            <a:ext cx="5474110" cy="1325563"/>
          </a:xfrm>
        </p:spPr>
        <p:txBody>
          <a:bodyPr>
            <a:normAutofit/>
          </a:bodyPr>
          <a:lstStyle/>
          <a:p>
            <a:r>
              <a:rPr lang="en-US" sz="6600" dirty="0">
                <a:solidFill>
                  <a:srgbClr val="0070C0"/>
                </a:solidFill>
                <a:latin typeface="Equinox Bold" panose="02000500000000000000" pitchFamily="2" charset="0"/>
              </a:rPr>
              <a:t>SECURITY</a:t>
            </a:r>
          </a:p>
        </p:txBody>
      </p:sp>
      <p:sp>
        <p:nvSpPr>
          <p:cNvPr id="5" name="Content Placeholder 4">
            <a:extLst>
              <a:ext uri="{FF2B5EF4-FFF2-40B4-BE49-F238E27FC236}">
                <a16:creationId xmlns:a16="http://schemas.microsoft.com/office/drawing/2014/main" id="{90EEDE56-33C9-CD36-0759-F97A5449779E}"/>
              </a:ext>
            </a:extLst>
          </p:cNvPr>
          <p:cNvSpPr>
            <a:spLocks noGrp="1"/>
          </p:cNvSpPr>
          <p:nvPr>
            <p:ph idx="1"/>
          </p:nvPr>
        </p:nvSpPr>
        <p:spPr>
          <a:xfrm>
            <a:off x="835742" y="1825625"/>
            <a:ext cx="5476568" cy="4351338"/>
          </a:xfrm>
        </p:spPr>
        <p:txBody>
          <a:bodyPr>
            <a:normAutofit fontScale="77500" lnSpcReduction="20000"/>
          </a:bodyPr>
          <a:lstStyle/>
          <a:p>
            <a:pPr marL="0" indent="0">
              <a:buNone/>
            </a:pPr>
            <a:r>
              <a:rPr lang="en-US" dirty="0">
                <a:solidFill>
                  <a:schemeClr val="bg1"/>
                </a:solidFill>
              </a:rPr>
              <a:t>When an attacker tries to do something malicious, Wazuh catches it within seconds. By creating the EICAR test file on our Windows 10 VM. Within sixty seconds, Wazuh detected the file creation, calculated its SHA256 hash, recognized it as a test malware signature, and triggered an alert.</a:t>
            </a:r>
          </a:p>
          <a:p>
            <a:pPr marL="0" indent="0">
              <a:buNone/>
            </a:pPr>
            <a:endParaRPr lang="en-US" b="1" dirty="0">
              <a:solidFill>
                <a:schemeClr val="bg1"/>
              </a:solidFill>
            </a:endParaRPr>
          </a:p>
          <a:p>
            <a:pPr marL="0" indent="0">
              <a:buNone/>
            </a:pPr>
            <a:r>
              <a:rPr lang="en-US" b="1" dirty="0">
                <a:solidFill>
                  <a:schemeClr val="bg1"/>
                </a:solidFill>
              </a:rPr>
              <a:t>What we actually saw:</a:t>
            </a:r>
            <a:endParaRPr lang="en-US" dirty="0">
              <a:solidFill>
                <a:schemeClr val="bg1"/>
              </a:solidFill>
            </a:endParaRPr>
          </a:p>
          <a:p>
            <a:pPr marL="0" indent="0">
              <a:buNone/>
            </a:pPr>
            <a:r>
              <a:rPr lang="en-US" dirty="0">
                <a:solidFill>
                  <a:schemeClr val="bg1"/>
                </a:solidFill>
              </a:rPr>
              <a:t>The moment eicar.com appeared in our C:\Users\Public folder, Wazuh's File Integrity Monitoring module fired. The alert told us exactly which file, on which agent, at what time. Then VirusTotal enrichment kicked in, confirming that 65 out of 70 antivirus engines flag this file as malicious.</a:t>
            </a: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a:p>
            <a:endParaRPr lang="en-US" sz="1400" dirty="0">
              <a:solidFill>
                <a:schemeClr val="bg1"/>
              </a:solidFill>
            </a:endParaRPr>
          </a:p>
        </p:txBody>
      </p:sp>
    </p:spTree>
    <p:extLst>
      <p:ext uri="{BB962C8B-B14F-4D97-AF65-F5344CB8AC3E}">
        <p14:creationId xmlns:p14="http://schemas.microsoft.com/office/powerpoint/2010/main" val="3607120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00"/>
            </a:gs>
            <a:gs pos="58000">
              <a:schemeClr val="tx1"/>
            </a:gs>
            <a:gs pos="60000">
              <a:schemeClr val="tx1"/>
            </a:gs>
            <a:gs pos="56000">
              <a:schemeClr val="tx1"/>
            </a:gs>
          </a:gsLst>
          <a:path path="circle">
            <a:fillToRect t="100000" r="100000"/>
          </a:path>
          <a:tileRect l="-100000" b="-100000"/>
        </a:gradFill>
        <a:effectLst/>
      </p:bgPr>
    </p:bg>
    <p:spTree>
      <p:nvGrpSpPr>
        <p:cNvPr id="1" name="">
          <a:extLst>
            <a:ext uri="{FF2B5EF4-FFF2-40B4-BE49-F238E27FC236}">
              <a16:creationId xmlns:a16="http://schemas.microsoft.com/office/drawing/2014/main" id="{DD7DF115-F3DB-3210-E228-983CFB7C368D}"/>
            </a:ext>
          </a:extLst>
        </p:cNvPr>
        <p:cNvGrpSpPr/>
        <p:nvPr/>
      </p:nvGrpSpPr>
      <p:grpSpPr>
        <a:xfrm>
          <a:off x="0" y="0"/>
          <a:ext cx="0" cy="0"/>
          <a:chOff x="0" y="0"/>
          <a:chExt cx="0" cy="0"/>
        </a:xfrm>
      </p:grpSpPr>
      <p:sp>
        <p:nvSpPr>
          <p:cNvPr id="6" name="Teardrop 5">
            <a:extLst>
              <a:ext uri="{FF2B5EF4-FFF2-40B4-BE49-F238E27FC236}">
                <a16:creationId xmlns:a16="http://schemas.microsoft.com/office/drawing/2014/main" id="{5FF5208E-7F38-7A99-E372-971975A23C5D}"/>
              </a:ext>
            </a:extLst>
          </p:cNvPr>
          <p:cNvSpPr/>
          <p:nvPr/>
        </p:nvSpPr>
        <p:spPr>
          <a:xfrm rot="10800000">
            <a:off x="0" y="3568840"/>
            <a:ext cx="3289160" cy="3289160"/>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482BE5B5-28BA-C25E-0A0F-DD134ABE9BE6}"/>
              </a:ext>
            </a:extLst>
          </p:cNvPr>
          <p:cNvSpPr txBox="1"/>
          <p:nvPr/>
        </p:nvSpPr>
        <p:spPr>
          <a:xfrm>
            <a:off x="1281402" y="4105424"/>
            <a:ext cx="1099981" cy="2215991"/>
          </a:xfrm>
          <a:prstGeom prst="rect">
            <a:avLst/>
          </a:prstGeom>
          <a:noFill/>
        </p:spPr>
        <p:txBody>
          <a:bodyPr wrap="none" rtlCol="0">
            <a:noAutofit/>
          </a:bodyPr>
          <a:lstStyle/>
          <a:p>
            <a:r>
              <a:rPr lang="en-US" sz="13800" dirty="0">
                <a:solidFill>
                  <a:schemeClr val="bg1"/>
                </a:solidFill>
                <a:latin typeface="Impact" panose="020B0806030902050204" pitchFamily="34" charset="0"/>
              </a:rPr>
              <a:t>I</a:t>
            </a:r>
          </a:p>
        </p:txBody>
      </p:sp>
      <p:sp>
        <p:nvSpPr>
          <p:cNvPr id="5" name="Title 4">
            <a:extLst>
              <a:ext uri="{FF2B5EF4-FFF2-40B4-BE49-F238E27FC236}">
                <a16:creationId xmlns:a16="http://schemas.microsoft.com/office/drawing/2014/main" id="{51C05DCC-1D4A-0FA1-420C-CF19C66B2BE3}"/>
              </a:ext>
            </a:extLst>
          </p:cNvPr>
          <p:cNvSpPr>
            <a:spLocks noGrp="1"/>
          </p:cNvSpPr>
          <p:nvPr>
            <p:ph type="title"/>
          </p:nvPr>
        </p:nvSpPr>
        <p:spPr>
          <a:xfrm>
            <a:off x="4570562" y="365125"/>
            <a:ext cx="6783238" cy="1325563"/>
          </a:xfrm>
        </p:spPr>
        <p:txBody>
          <a:bodyPr>
            <a:normAutofit/>
          </a:bodyPr>
          <a:lstStyle/>
          <a:p>
            <a:r>
              <a:rPr lang="en-US" sz="6600" dirty="0">
                <a:solidFill>
                  <a:srgbClr val="FF0000"/>
                </a:solidFill>
                <a:latin typeface="Equinox Bold" panose="02000500000000000000" pitchFamily="2" charset="0"/>
              </a:rPr>
              <a:t>INFORMATION</a:t>
            </a:r>
          </a:p>
        </p:txBody>
      </p:sp>
      <p:sp>
        <p:nvSpPr>
          <p:cNvPr id="7" name="Content Placeholder 6">
            <a:extLst>
              <a:ext uri="{FF2B5EF4-FFF2-40B4-BE49-F238E27FC236}">
                <a16:creationId xmlns:a16="http://schemas.microsoft.com/office/drawing/2014/main" id="{EDFEB8CF-0E3E-6306-D40D-9E8BC3375EA6}"/>
              </a:ext>
            </a:extLst>
          </p:cNvPr>
          <p:cNvSpPr>
            <a:spLocks noGrp="1"/>
          </p:cNvSpPr>
          <p:nvPr>
            <p:ph idx="1"/>
          </p:nvPr>
        </p:nvSpPr>
        <p:spPr>
          <a:xfrm>
            <a:off x="4570562" y="1825625"/>
            <a:ext cx="6783237" cy="4351338"/>
          </a:xfrm>
        </p:spPr>
        <p:txBody>
          <a:bodyPr>
            <a:normAutofit fontScale="92500" lnSpcReduction="10000"/>
          </a:bodyPr>
          <a:lstStyle/>
          <a:p>
            <a:pPr marL="0" indent="0">
              <a:buNone/>
            </a:pPr>
            <a:r>
              <a:rPr lang="en-US" sz="2400" dirty="0">
                <a:solidFill>
                  <a:schemeClr val="bg1"/>
                </a:solidFill>
              </a:rPr>
              <a:t>Raw alerts are just data. The alert "File added to C:\Users\Public" tells you something happened but not why it matters. Enrichment transforms that data into intelligence.</a:t>
            </a:r>
          </a:p>
          <a:p>
            <a:pPr marL="0" indent="0">
              <a:buNone/>
            </a:pPr>
            <a:endParaRPr lang="en-US" sz="2400" dirty="0">
              <a:solidFill>
                <a:schemeClr val="bg1"/>
              </a:solidFill>
            </a:endParaRPr>
          </a:p>
          <a:p>
            <a:pPr marL="0" indent="0">
              <a:buNone/>
            </a:pPr>
            <a:r>
              <a:rPr lang="en-US" sz="2400" b="1" dirty="0">
                <a:solidFill>
                  <a:schemeClr val="bg1"/>
                </a:solidFill>
              </a:rPr>
              <a:t>Vulnerability Detection dashboard told a different story:</a:t>
            </a:r>
            <a:endParaRPr lang="en-US" sz="2400" dirty="0">
              <a:solidFill>
                <a:schemeClr val="bg1"/>
              </a:solidFill>
            </a:endParaRPr>
          </a:p>
          <a:p>
            <a:pPr marL="0" indent="0">
              <a:buNone/>
            </a:pPr>
            <a:r>
              <a:rPr lang="en-US" sz="2400" dirty="0">
                <a:solidFill>
                  <a:schemeClr val="bg1"/>
                </a:solidFill>
              </a:rPr>
              <a:t>When we clicked on the Vulnerability Detection module, we saw 1,996 vulnerabilities across our Ubuntu agent. Sixty-five of them were critical severity. Six hundred and four were high severity. But raw numbers don't help an analyst prioritize. The dashboard organized everything by CVE ID, severity score, and affected package. We could immediately see that CVE-2026-27456 had a CVSS score of 7.8 and needed patching before lower severity issues.</a:t>
            </a:r>
          </a:p>
          <a:p>
            <a:endParaRPr lang="en-US" sz="2400" dirty="0">
              <a:solidFill>
                <a:schemeClr val="bg1"/>
              </a:solidFill>
            </a:endParaRPr>
          </a:p>
        </p:txBody>
      </p:sp>
    </p:spTree>
    <p:extLst>
      <p:ext uri="{BB962C8B-B14F-4D97-AF65-F5344CB8AC3E}">
        <p14:creationId xmlns:p14="http://schemas.microsoft.com/office/powerpoint/2010/main" val="2282799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50"/>
            </a:gs>
            <a:gs pos="58000">
              <a:schemeClr val="tx1"/>
            </a:gs>
            <a:gs pos="60000">
              <a:schemeClr val="tx1"/>
            </a:gs>
            <a:gs pos="56000">
              <a:schemeClr val="tx1"/>
            </a:gs>
          </a:gsLst>
          <a:path path="circle">
            <a:fillToRect l="100000" b="100000"/>
          </a:path>
          <a:tileRect t="-100000" r="-100000"/>
        </a:gradFill>
        <a:effectLst/>
      </p:bgPr>
    </p:bg>
    <p:spTree>
      <p:nvGrpSpPr>
        <p:cNvPr id="1" name="">
          <a:extLst>
            <a:ext uri="{FF2B5EF4-FFF2-40B4-BE49-F238E27FC236}">
              <a16:creationId xmlns:a16="http://schemas.microsoft.com/office/drawing/2014/main" id="{D0D759DB-C06B-253D-39C3-D3003435E799}"/>
            </a:ext>
          </a:extLst>
        </p:cNvPr>
        <p:cNvGrpSpPr/>
        <p:nvPr/>
      </p:nvGrpSpPr>
      <p:grpSpPr>
        <a:xfrm>
          <a:off x="0" y="0"/>
          <a:ext cx="0" cy="0"/>
          <a:chOff x="0" y="0"/>
          <a:chExt cx="0" cy="0"/>
        </a:xfrm>
      </p:grpSpPr>
      <p:sp>
        <p:nvSpPr>
          <p:cNvPr id="6" name="Teardrop 5">
            <a:extLst>
              <a:ext uri="{FF2B5EF4-FFF2-40B4-BE49-F238E27FC236}">
                <a16:creationId xmlns:a16="http://schemas.microsoft.com/office/drawing/2014/main" id="{A4B7DCD1-3BF2-F070-5D12-C82DA40A027E}"/>
              </a:ext>
            </a:extLst>
          </p:cNvPr>
          <p:cNvSpPr/>
          <p:nvPr/>
        </p:nvSpPr>
        <p:spPr>
          <a:xfrm>
            <a:off x="8902840" y="0"/>
            <a:ext cx="3289160" cy="3289160"/>
          </a:xfrm>
          <a:prstGeom prst="teardrop">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B16CE337-62BA-A3D5-5A68-C722F9B4B9DA}"/>
              </a:ext>
            </a:extLst>
          </p:cNvPr>
          <p:cNvSpPr txBox="1"/>
          <p:nvPr/>
        </p:nvSpPr>
        <p:spPr>
          <a:xfrm>
            <a:off x="9997429" y="536584"/>
            <a:ext cx="1099981" cy="2215991"/>
          </a:xfrm>
          <a:prstGeom prst="rect">
            <a:avLst/>
          </a:prstGeom>
          <a:noFill/>
        </p:spPr>
        <p:txBody>
          <a:bodyPr wrap="none" rtlCol="0">
            <a:noAutofit/>
          </a:bodyPr>
          <a:lstStyle/>
          <a:p>
            <a:r>
              <a:rPr lang="en-US" sz="13800" dirty="0">
                <a:solidFill>
                  <a:schemeClr val="bg1"/>
                </a:solidFill>
                <a:latin typeface="Impact" panose="020B0806030902050204" pitchFamily="34" charset="0"/>
              </a:rPr>
              <a:t>E</a:t>
            </a:r>
          </a:p>
        </p:txBody>
      </p:sp>
      <p:sp>
        <p:nvSpPr>
          <p:cNvPr id="3" name="Title 2">
            <a:extLst>
              <a:ext uri="{FF2B5EF4-FFF2-40B4-BE49-F238E27FC236}">
                <a16:creationId xmlns:a16="http://schemas.microsoft.com/office/drawing/2014/main" id="{26DC71A6-61BE-85AA-6207-B7EFF8517D92}"/>
              </a:ext>
            </a:extLst>
          </p:cNvPr>
          <p:cNvSpPr>
            <a:spLocks noGrp="1"/>
          </p:cNvSpPr>
          <p:nvPr>
            <p:ph type="title"/>
          </p:nvPr>
        </p:nvSpPr>
        <p:spPr>
          <a:xfrm>
            <a:off x="838200" y="365125"/>
            <a:ext cx="6781800" cy="1325563"/>
          </a:xfrm>
        </p:spPr>
        <p:txBody>
          <a:bodyPr/>
          <a:lstStyle/>
          <a:p>
            <a:r>
              <a:rPr lang="en-US" sz="6600" dirty="0">
                <a:solidFill>
                  <a:srgbClr val="00B050"/>
                </a:solidFill>
                <a:latin typeface="Equinox Bold" panose="02000500000000000000" pitchFamily="2" charset="0"/>
              </a:rPr>
              <a:t>Event</a:t>
            </a:r>
            <a:endParaRPr lang="en-US" dirty="0">
              <a:solidFill>
                <a:srgbClr val="00B050"/>
              </a:solidFill>
              <a:latin typeface="Equinox Bold" panose="02000500000000000000" pitchFamily="2" charset="0"/>
            </a:endParaRPr>
          </a:p>
        </p:txBody>
      </p:sp>
      <p:sp>
        <p:nvSpPr>
          <p:cNvPr id="4" name="Content Placeholder 3">
            <a:extLst>
              <a:ext uri="{FF2B5EF4-FFF2-40B4-BE49-F238E27FC236}">
                <a16:creationId xmlns:a16="http://schemas.microsoft.com/office/drawing/2014/main" id="{243EE6AB-8928-C25B-43C2-039D61BD7FC8}"/>
              </a:ext>
            </a:extLst>
          </p:cNvPr>
          <p:cNvSpPr>
            <a:spLocks noGrp="1"/>
          </p:cNvSpPr>
          <p:nvPr>
            <p:ph idx="1"/>
          </p:nvPr>
        </p:nvSpPr>
        <p:spPr>
          <a:xfrm>
            <a:off x="838200" y="1825625"/>
            <a:ext cx="6781800" cy="4351338"/>
          </a:xfrm>
        </p:spPr>
        <p:txBody>
          <a:bodyPr>
            <a:normAutofit fontScale="92500" lnSpcReduction="10000"/>
          </a:bodyPr>
          <a:lstStyle/>
          <a:p>
            <a:pPr marL="0" indent="0">
              <a:buNone/>
            </a:pPr>
            <a:r>
              <a:rPr lang="en-US" sz="2400" dirty="0">
                <a:solidFill>
                  <a:schemeClr val="bg1"/>
                </a:solidFill>
              </a:rPr>
              <a:t>Every action on our monitored endpoints generates a log. Your Windows VM sent process creation events from Sysmon, file changes from FIM, and PowerShell script blocks from module logging. Your Ubuntu VM sent SSH authentication attempts, </a:t>
            </a:r>
            <a:r>
              <a:rPr lang="en-US" sz="2400" dirty="0" err="1">
                <a:solidFill>
                  <a:schemeClr val="bg1"/>
                </a:solidFill>
              </a:rPr>
              <a:t>sudo</a:t>
            </a:r>
            <a:r>
              <a:rPr lang="en-US" sz="2400" dirty="0">
                <a:solidFill>
                  <a:schemeClr val="bg1"/>
                </a:solidFill>
              </a:rPr>
              <a:t> command executions, and system audit logs.</a:t>
            </a:r>
          </a:p>
          <a:p>
            <a:pPr marL="0" indent="0">
              <a:buNone/>
            </a:pPr>
            <a:endParaRPr lang="en-US" sz="2400" dirty="0">
              <a:solidFill>
                <a:schemeClr val="bg1"/>
              </a:solidFill>
            </a:endParaRPr>
          </a:p>
          <a:p>
            <a:pPr marL="0" indent="0">
              <a:buNone/>
            </a:pPr>
            <a:r>
              <a:rPr lang="en-US" sz="2400" b="1" dirty="0">
                <a:solidFill>
                  <a:schemeClr val="bg1"/>
                </a:solidFill>
              </a:rPr>
              <a:t>The event volume from your testing:</a:t>
            </a:r>
            <a:endParaRPr lang="en-US" sz="2400" dirty="0">
              <a:solidFill>
                <a:schemeClr val="bg1"/>
              </a:solidFill>
            </a:endParaRPr>
          </a:p>
          <a:p>
            <a:pPr marL="0" indent="0">
              <a:buNone/>
            </a:pPr>
            <a:r>
              <a:rPr lang="en-US" sz="2400" dirty="0">
                <a:solidFill>
                  <a:schemeClr val="bg1"/>
                </a:solidFill>
              </a:rPr>
              <a:t>During our SSH brute force test, each failed login attempt generated a distinct event. Forty-five failures produced forty-five authentication events. Wazuh correlated them in real-time, recognized the pattern, and generated a single brute force alert instead of forty-five individual login failure alerts.</a:t>
            </a:r>
          </a:p>
          <a:p>
            <a:endParaRPr lang="en-US" sz="2200" dirty="0">
              <a:solidFill>
                <a:schemeClr val="bg1"/>
              </a:solidFill>
            </a:endParaRPr>
          </a:p>
        </p:txBody>
      </p:sp>
    </p:spTree>
    <p:extLst>
      <p:ext uri="{BB962C8B-B14F-4D97-AF65-F5344CB8AC3E}">
        <p14:creationId xmlns:p14="http://schemas.microsoft.com/office/powerpoint/2010/main" val="771813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C000"/>
            </a:gs>
            <a:gs pos="54000">
              <a:schemeClr val="tx1"/>
            </a:gs>
            <a:gs pos="55000">
              <a:schemeClr val="tx1"/>
            </a:gs>
            <a:gs pos="57000">
              <a:schemeClr val="tx1"/>
            </a:gs>
          </a:gsLst>
          <a:path path="circle">
            <a:fillToRect r="100000" b="100000"/>
          </a:path>
          <a:tileRect l="-100000" t="-100000"/>
        </a:gradFill>
        <a:effectLst/>
      </p:bgPr>
    </p:bg>
    <p:spTree>
      <p:nvGrpSpPr>
        <p:cNvPr id="1" name="">
          <a:extLst>
            <a:ext uri="{FF2B5EF4-FFF2-40B4-BE49-F238E27FC236}">
              <a16:creationId xmlns:a16="http://schemas.microsoft.com/office/drawing/2014/main" id="{DC58526B-2408-99D5-20E6-58537E01F652}"/>
            </a:ext>
          </a:extLst>
        </p:cNvPr>
        <p:cNvGrpSpPr/>
        <p:nvPr/>
      </p:nvGrpSpPr>
      <p:grpSpPr>
        <a:xfrm>
          <a:off x="0" y="0"/>
          <a:ext cx="0" cy="0"/>
          <a:chOff x="0" y="0"/>
          <a:chExt cx="0" cy="0"/>
        </a:xfrm>
      </p:grpSpPr>
      <p:sp>
        <p:nvSpPr>
          <p:cNvPr id="6" name="Teardrop 5">
            <a:extLst>
              <a:ext uri="{FF2B5EF4-FFF2-40B4-BE49-F238E27FC236}">
                <a16:creationId xmlns:a16="http://schemas.microsoft.com/office/drawing/2014/main" id="{9972F081-D42A-1530-586C-50967A5290F3}"/>
              </a:ext>
            </a:extLst>
          </p:cNvPr>
          <p:cNvSpPr/>
          <p:nvPr/>
        </p:nvSpPr>
        <p:spPr>
          <a:xfrm rot="16200000">
            <a:off x="0" y="0"/>
            <a:ext cx="3289160" cy="3289160"/>
          </a:xfrm>
          <a:prstGeom prst="teardrop">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E4F1B1E-ED0B-5AA2-8C25-7444A249DB4F}"/>
              </a:ext>
            </a:extLst>
          </p:cNvPr>
          <p:cNvSpPr txBox="1"/>
          <p:nvPr/>
        </p:nvSpPr>
        <p:spPr>
          <a:xfrm>
            <a:off x="956937" y="536583"/>
            <a:ext cx="1099981" cy="2215991"/>
          </a:xfrm>
          <a:prstGeom prst="rect">
            <a:avLst/>
          </a:prstGeom>
          <a:noFill/>
        </p:spPr>
        <p:txBody>
          <a:bodyPr wrap="none" rtlCol="0">
            <a:noAutofit/>
          </a:bodyPr>
          <a:lstStyle/>
          <a:p>
            <a:r>
              <a:rPr lang="en-US" sz="13800" dirty="0">
                <a:solidFill>
                  <a:schemeClr val="bg1"/>
                </a:solidFill>
                <a:latin typeface="Impact" panose="020B0806030902050204" pitchFamily="34" charset="0"/>
              </a:rPr>
              <a:t>M</a:t>
            </a:r>
          </a:p>
        </p:txBody>
      </p:sp>
      <p:sp>
        <p:nvSpPr>
          <p:cNvPr id="3" name="Title 2">
            <a:extLst>
              <a:ext uri="{FF2B5EF4-FFF2-40B4-BE49-F238E27FC236}">
                <a16:creationId xmlns:a16="http://schemas.microsoft.com/office/drawing/2014/main" id="{704076BF-87E2-DF4C-B9C2-9026341FB9AC}"/>
              </a:ext>
            </a:extLst>
          </p:cNvPr>
          <p:cNvSpPr>
            <a:spLocks noGrp="1"/>
          </p:cNvSpPr>
          <p:nvPr>
            <p:ph type="title"/>
          </p:nvPr>
        </p:nvSpPr>
        <p:spPr>
          <a:xfrm>
            <a:off x="4572000" y="365125"/>
            <a:ext cx="6781799" cy="1325563"/>
          </a:xfrm>
        </p:spPr>
        <p:txBody>
          <a:bodyPr/>
          <a:lstStyle/>
          <a:p>
            <a:r>
              <a:rPr lang="en-US" sz="6600" dirty="0">
                <a:solidFill>
                  <a:srgbClr val="FFC000"/>
                </a:solidFill>
                <a:latin typeface="Equinox Bold" panose="02000500000000000000" pitchFamily="2" charset="0"/>
              </a:rPr>
              <a:t>Management</a:t>
            </a:r>
            <a:endParaRPr lang="en-US" dirty="0">
              <a:solidFill>
                <a:srgbClr val="FFC000"/>
              </a:solidFill>
              <a:latin typeface="Equinox Bold" panose="02000500000000000000" pitchFamily="2" charset="0"/>
            </a:endParaRPr>
          </a:p>
        </p:txBody>
      </p:sp>
      <p:sp>
        <p:nvSpPr>
          <p:cNvPr id="4" name="Content Placeholder 3">
            <a:extLst>
              <a:ext uri="{FF2B5EF4-FFF2-40B4-BE49-F238E27FC236}">
                <a16:creationId xmlns:a16="http://schemas.microsoft.com/office/drawing/2014/main" id="{C1B16DB0-D622-C23A-A42A-9BBE121848B8}"/>
              </a:ext>
            </a:extLst>
          </p:cNvPr>
          <p:cNvSpPr>
            <a:spLocks noGrp="1"/>
          </p:cNvSpPr>
          <p:nvPr>
            <p:ph idx="1"/>
          </p:nvPr>
        </p:nvSpPr>
        <p:spPr>
          <a:xfrm>
            <a:off x="4572000" y="1825625"/>
            <a:ext cx="6781800" cy="4351338"/>
          </a:xfrm>
        </p:spPr>
        <p:txBody>
          <a:bodyPr>
            <a:normAutofit fontScale="92500" lnSpcReduction="20000"/>
          </a:bodyPr>
          <a:lstStyle/>
          <a:p>
            <a:pPr marL="0" indent="0">
              <a:buNone/>
            </a:pPr>
            <a:r>
              <a:rPr lang="en-US" sz="2400" dirty="0">
                <a:solidFill>
                  <a:schemeClr val="bg1"/>
                </a:solidFill>
              </a:rPr>
              <a:t>Detection without prioritization is useless. Our Vulnerability Detection dashboard didn't just show 1,996 vulnerabilities, it told us which ones to fix first. Critical severity CVEs were highlighted in red. High severity followed in orange. Medium and low were pushed down the list. This is risk-based prioritization in action.</a:t>
            </a:r>
          </a:p>
          <a:p>
            <a:pPr marL="0" indent="0">
              <a:buNone/>
            </a:pPr>
            <a:endParaRPr lang="en-US" sz="2400" b="1" dirty="0">
              <a:solidFill>
                <a:schemeClr val="bg1"/>
              </a:solidFill>
            </a:endParaRPr>
          </a:p>
          <a:p>
            <a:pPr marL="0" indent="0">
              <a:buNone/>
            </a:pPr>
            <a:r>
              <a:rPr lang="en-US" sz="2400" b="1" dirty="0">
                <a:solidFill>
                  <a:schemeClr val="bg1"/>
                </a:solidFill>
              </a:rPr>
              <a:t>What this means for an organization:</a:t>
            </a:r>
            <a:endParaRPr lang="en-US" sz="2400" dirty="0">
              <a:solidFill>
                <a:schemeClr val="bg1"/>
              </a:solidFill>
            </a:endParaRPr>
          </a:p>
          <a:p>
            <a:pPr marL="0" indent="0">
              <a:buNone/>
            </a:pPr>
            <a:r>
              <a:rPr lang="en-US" sz="2400" dirty="0">
                <a:solidFill>
                  <a:schemeClr val="bg1"/>
                </a:solidFill>
              </a:rPr>
              <a:t>A security team receiving ten thousand alerts per day cannot investigate everything. Our lab demonstrated how SIEM management features, alert prioritization, automated enrichment, and scheduled reporting, turn a flood of data into actionable intelligence. The difference between a failed SOC and an effective one is not more analysts or more tools. It is better management of the tools we already have.</a:t>
            </a:r>
          </a:p>
          <a:p>
            <a:endParaRPr lang="en-US" sz="2200" dirty="0">
              <a:solidFill>
                <a:schemeClr val="bg1"/>
              </a:solidFill>
            </a:endParaRPr>
          </a:p>
        </p:txBody>
      </p:sp>
    </p:spTree>
    <p:extLst>
      <p:ext uri="{BB962C8B-B14F-4D97-AF65-F5344CB8AC3E}">
        <p14:creationId xmlns:p14="http://schemas.microsoft.com/office/powerpoint/2010/main" val="1815883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27253684-0C3E-B386-6D38-5F3C114761E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72C28AE-A128-3DB1-E2F7-040BD5FCA3DD}"/>
              </a:ext>
            </a:extLst>
          </p:cNvPr>
          <p:cNvSpPr/>
          <p:nvPr/>
        </p:nvSpPr>
        <p:spPr>
          <a:xfrm>
            <a:off x="-3318623" y="-467147"/>
            <a:ext cx="7812911" cy="7812911"/>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897BF62-E74E-9C1F-0467-5B2345B891A9}"/>
              </a:ext>
            </a:extLst>
          </p:cNvPr>
          <p:cNvSpPr/>
          <p:nvPr/>
        </p:nvSpPr>
        <p:spPr>
          <a:xfrm>
            <a:off x="-3318623" y="-456838"/>
            <a:ext cx="7812911" cy="7812911"/>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4BB5F66-43CC-F05D-69B5-BBBC48A7C5B3}"/>
              </a:ext>
            </a:extLst>
          </p:cNvPr>
          <p:cNvSpPr/>
          <p:nvPr/>
        </p:nvSpPr>
        <p:spPr>
          <a:xfrm>
            <a:off x="-3318623" y="-446529"/>
            <a:ext cx="7812911" cy="7812911"/>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B8056F5-3B92-2A74-DCE6-D25E9933CCAA}"/>
              </a:ext>
            </a:extLst>
          </p:cNvPr>
          <p:cNvSpPr/>
          <p:nvPr/>
        </p:nvSpPr>
        <p:spPr>
          <a:xfrm>
            <a:off x="-3318623" y="-436220"/>
            <a:ext cx="7812911" cy="781291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5D87540-ED8B-C0B4-4C76-55FD08244B0D}"/>
              </a:ext>
            </a:extLst>
          </p:cNvPr>
          <p:cNvSpPr/>
          <p:nvPr/>
        </p:nvSpPr>
        <p:spPr>
          <a:xfrm>
            <a:off x="-3318623" y="-477456"/>
            <a:ext cx="7812911" cy="781291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28808B9-3D2E-59A6-3A35-2EA1277A295D}"/>
              </a:ext>
            </a:extLst>
          </p:cNvPr>
          <p:cNvSpPr txBox="1"/>
          <p:nvPr/>
        </p:nvSpPr>
        <p:spPr>
          <a:xfrm>
            <a:off x="-3318623" y="2839142"/>
            <a:ext cx="3663389" cy="1200329"/>
          </a:xfrm>
          <a:prstGeom prst="rect">
            <a:avLst/>
          </a:prstGeom>
          <a:noFill/>
        </p:spPr>
        <p:txBody>
          <a:bodyPr wrap="square" rtlCol="0">
            <a:spAutoFit/>
          </a:bodyPr>
          <a:lstStyle/>
          <a:p>
            <a:r>
              <a:rPr lang="en-US" sz="7200" dirty="0">
                <a:solidFill>
                  <a:srgbClr val="002060"/>
                </a:solidFill>
                <a:latin typeface="Impact" panose="020B0806030902050204" pitchFamily="34" charset="0"/>
              </a:rPr>
              <a:t>Modules</a:t>
            </a:r>
            <a:endParaRPr lang="en-US" sz="4800" dirty="0">
              <a:solidFill>
                <a:srgbClr val="002060"/>
              </a:solidFill>
              <a:latin typeface="Impact" panose="020B0806030902050204" pitchFamily="34" charset="0"/>
            </a:endParaRPr>
          </a:p>
        </p:txBody>
      </p:sp>
      <p:sp>
        <p:nvSpPr>
          <p:cNvPr id="12" name="TextBox 11">
            <a:extLst>
              <a:ext uri="{FF2B5EF4-FFF2-40B4-BE49-F238E27FC236}">
                <a16:creationId xmlns:a16="http://schemas.microsoft.com/office/drawing/2014/main" id="{E4A420BC-B821-AD8D-B152-07F7962B000A}"/>
              </a:ext>
            </a:extLst>
          </p:cNvPr>
          <p:cNvSpPr txBox="1"/>
          <p:nvPr/>
        </p:nvSpPr>
        <p:spPr>
          <a:xfrm>
            <a:off x="-3318623" y="2880380"/>
            <a:ext cx="776466" cy="1200329"/>
          </a:xfrm>
          <a:prstGeom prst="rect">
            <a:avLst/>
          </a:prstGeom>
          <a:noFill/>
        </p:spPr>
        <p:txBody>
          <a:bodyPr wrap="square" rtlCol="0">
            <a:spAutoFit/>
          </a:bodyPr>
          <a:lstStyle/>
          <a:p>
            <a:r>
              <a:rPr lang="en-US" sz="7200" dirty="0">
                <a:solidFill>
                  <a:schemeClr val="accent5">
                    <a:lumMod val="50000"/>
                  </a:schemeClr>
                </a:solidFill>
                <a:latin typeface="Impact" panose="020B0806030902050204" pitchFamily="34" charset="0"/>
              </a:rPr>
              <a:t>S</a:t>
            </a:r>
            <a:endParaRPr lang="en-US" sz="8000" dirty="0">
              <a:solidFill>
                <a:schemeClr val="accent5">
                  <a:lumMod val="50000"/>
                </a:schemeClr>
              </a:solidFill>
              <a:latin typeface="Impact" panose="020B0806030902050204" pitchFamily="34" charset="0"/>
            </a:endParaRPr>
          </a:p>
        </p:txBody>
      </p:sp>
      <p:sp>
        <p:nvSpPr>
          <p:cNvPr id="13" name="TextBox 12">
            <a:extLst>
              <a:ext uri="{FF2B5EF4-FFF2-40B4-BE49-F238E27FC236}">
                <a16:creationId xmlns:a16="http://schemas.microsoft.com/office/drawing/2014/main" id="{DD01FB97-484C-8223-43F8-8B5EE0A42BFD}"/>
              </a:ext>
            </a:extLst>
          </p:cNvPr>
          <p:cNvSpPr txBox="1"/>
          <p:nvPr/>
        </p:nvSpPr>
        <p:spPr>
          <a:xfrm>
            <a:off x="-3318623" y="2828834"/>
            <a:ext cx="776466" cy="1200329"/>
          </a:xfrm>
          <a:prstGeom prst="rect">
            <a:avLst/>
          </a:prstGeom>
          <a:noFill/>
        </p:spPr>
        <p:txBody>
          <a:bodyPr wrap="square" rtlCol="0">
            <a:spAutoFit/>
          </a:bodyPr>
          <a:lstStyle/>
          <a:p>
            <a:r>
              <a:rPr lang="en-US" sz="7200" dirty="0">
                <a:solidFill>
                  <a:schemeClr val="accent5">
                    <a:lumMod val="75000"/>
                  </a:schemeClr>
                </a:solidFill>
                <a:latin typeface="Impact" panose="020B0806030902050204" pitchFamily="34" charset="0"/>
              </a:rPr>
              <a:t>I</a:t>
            </a:r>
            <a:endParaRPr lang="en-US" sz="8000" dirty="0">
              <a:solidFill>
                <a:schemeClr val="accent5">
                  <a:lumMod val="75000"/>
                </a:schemeClr>
              </a:solidFill>
              <a:latin typeface="Impact" panose="020B0806030902050204" pitchFamily="34" charset="0"/>
            </a:endParaRPr>
          </a:p>
        </p:txBody>
      </p:sp>
      <p:sp>
        <p:nvSpPr>
          <p:cNvPr id="14" name="TextBox 13">
            <a:extLst>
              <a:ext uri="{FF2B5EF4-FFF2-40B4-BE49-F238E27FC236}">
                <a16:creationId xmlns:a16="http://schemas.microsoft.com/office/drawing/2014/main" id="{11D6D390-CB37-CC36-9E54-3B3757305531}"/>
              </a:ext>
            </a:extLst>
          </p:cNvPr>
          <p:cNvSpPr txBox="1"/>
          <p:nvPr/>
        </p:nvSpPr>
        <p:spPr>
          <a:xfrm>
            <a:off x="-3318623" y="2828833"/>
            <a:ext cx="776466" cy="1200329"/>
          </a:xfrm>
          <a:prstGeom prst="rect">
            <a:avLst/>
          </a:prstGeom>
          <a:noFill/>
        </p:spPr>
        <p:txBody>
          <a:bodyPr wrap="square" rtlCol="0">
            <a:spAutoFit/>
          </a:bodyPr>
          <a:lstStyle/>
          <a:p>
            <a:r>
              <a:rPr lang="en-US" sz="7200" dirty="0">
                <a:solidFill>
                  <a:schemeClr val="accent5">
                    <a:lumMod val="60000"/>
                    <a:lumOff val="40000"/>
                  </a:schemeClr>
                </a:solidFill>
                <a:latin typeface="Impact" panose="020B0806030902050204" pitchFamily="34" charset="0"/>
              </a:rPr>
              <a:t>E</a:t>
            </a:r>
            <a:endParaRPr lang="en-US" sz="8000" dirty="0">
              <a:solidFill>
                <a:schemeClr val="accent5">
                  <a:lumMod val="60000"/>
                  <a:lumOff val="40000"/>
                </a:schemeClr>
              </a:solidFill>
              <a:latin typeface="Impact" panose="020B0806030902050204" pitchFamily="34" charset="0"/>
            </a:endParaRPr>
          </a:p>
        </p:txBody>
      </p:sp>
      <p:sp>
        <p:nvSpPr>
          <p:cNvPr id="15" name="TextBox 14">
            <a:extLst>
              <a:ext uri="{FF2B5EF4-FFF2-40B4-BE49-F238E27FC236}">
                <a16:creationId xmlns:a16="http://schemas.microsoft.com/office/drawing/2014/main" id="{5EB5A569-84EA-6801-0876-B2084F5BBA58}"/>
              </a:ext>
            </a:extLst>
          </p:cNvPr>
          <p:cNvSpPr txBox="1"/>
          <p:nvPr/>
        </p:nvSpPr>
        <p:spPr>
          <a:xfrm>
            <a:off x="-3318623" y="2828833"/>
            <a:ext cx="776466" cy="1200329"/>
          </a:xfrm>
          <a:prstGeom prst="rect">
            <a:avLst/>
          </a:prstGeom>
          <a:noFill/>
        </p:spPr>
        <p:txBody>
          <a:bodyPr wrap="square" rtlCol="0">
            <a:spAutoFit/>
          </a:bodyPr>
          <a:lstStyle/>
          <a:p>
            <a:r>
              <a:rPr lang="en-US" sz="7200" dirty="0">
                <a:solidFill>
                  <a:schemeClr val="accent5">
                    <a:lumMod val="40000"/>
                    <a:lumOff val="60000"/>
                  </a:schemeClr>
                </a:solidFill>
                <a:latin typeface="Impact" panose="020B0806030902050204" pitchFamily="34" charset="0"/>
              </a:rPr>
              <a:t>M</a:t>
            </a:r>
            <a:endParaRPr lang="en-US" sz="8000" dirty="0">
              <a:solidFill>
                <a:schemeClr val="accent5">
                  <a:lumMod val="40000"/>
                  <a:lumOff val="60000"/>
                </a:schemeClr>
              </a:solidFill>
              <a:latin typeface="Impact" panose="020B0806030902050204" pitchFamily="34" charset="0"/>
            </a:endParaRPr>
          </a:p>
        </p:txBody>
      </p:sp>
      <p:pic>
        <p:nvPicPr>
          <p:cNvPr id="3" name="Picture 2">
            <a:extLst>
              <a:ext uri="{FF2B5EF4-FFF2-40B4-BE49-F238E27FC236}">
                <a16:creationId xmlns:a16="http://schemas.microsoft.com/office/drawing/2014/main" id="{2D4EEB7A-A67D-B3B5-7846-00040D9310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276503">
            <a:off x="9530661" y="643732"/>
            <a:ext cx="1269841" cy="1269841"/>
          </a:xfrm>
          <a:prstGeom prst="rect">
            <a:avLst/>
          </a:prstGeom>
        </p:spPr>
      </p:pic>
      <p:pic>
        <p:nvPicPr>
          <p:cNvPr id="11" name="Picture 10">
            <a:extLst>
              <a:ext uri="{FF2B5EF4-FFF2-40B4-BE49-F238E27FC236}">
                <a16:creationId xmlns:a16="http://schemas.microsoft.com/office/drawing/2014/main" id="{6166122F-55C6-E38B-5FCC-5631EB852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7571" y="468775"/>
            <a:ext cx="1183540" cy="1183540"/>
          </a:xfrm>
          <a:prstGeom prst="rect">
            <a:avLst/>
          </a:prstGeom>
        </p:spPr>
      </p:pic>
      <p:pic>
        <p:nvPicPr>
          <p:cNvPr id="17" name="Picture 16">
            <a:extLst>
              <a:ext uri="{FF2B5EF4-FFF2-40B4-BE49-F238E27FC236}">
                <a16:creationId xmlns:a16="http://schemas.microsoft.com/office/drawing/2014/main" id="{DE7FFB3B-2634-8409-F722-83444CD2F3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122086" flipH="1">
            <a:off x="9865031" y="3223463"/>
            <a:ext cx="847945" cy="847945"/>
          </a:xfrm>
          <a:prstGeom prst="rect">
            <a:avLst/>
          </a:prstGeom>
        </p:spPr>
      </p:pic>
      <p:pic>
        <p:nvPicPr>
          <p:cNvPr id="19" name="Picture 18">
            <a:extLst>
              <a:ext uri="{FF2B5EF4-FFF2-40B4-BE49-F238E27FC236}">
                <a16:creationId xmlns:a16="http://schemas.microsoft.com/office/drawing/2014/main" id="{EE3699B6-CFAC-55A6-5904-14DF10EB95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60035" y="3565631"/>
            <a:ext cx="1030156" cy="1030156"/>
          </a:xfrm>
          <a:prstGeom prst="rect">
            <a:avLst/>
          </a:prstGeom>
        </p:spPr>
      </p:pic>
      <p:pic>
        <p:nvPicPr>
          <p:cNvPr id="21" name="Picture 20">
            <a:extLst>
              <a:ext uri="{FF2B5EF4-FFF2-40B4-BE49-F238E27FC236}">
                <a16:creationId xmlns:a16="http://schemas.microsoft.com/office/drawing/2014/main" id="{848A2EAF-4BAE-1ADF-4043-F8213CBC63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5229" y="673183"/>
            <a:ext cx="1183540" cy="1183540"/>
          </a:xfrm>
          <a:prstGeom prst="rect">
            <a:avLst/>
          </a:prstGeom>
        </p:spPr>
      </p:pic>
      <p:pic>
        <p:nvPicPr>
          <p:cNvPr id="23" name="Picture 22">
            <a:extLst>
              <a:ext uri="{FF2B5EF4-FFF2-40B4-BE49-F238E27FC236}">
                <a16:creationId xmlns:a16="http://schemas.microsoft.com/office/drawing/2014/main" id="{271030DA-A183-C639-FA5D-0E2978F235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58470" y="2895271"/>
            <a:ext cx="1075059" cy="1075059"/>
          </a:xfrm>
          <a:prstGeom prst="rect">
            <a:avLst/>
          </a:prstGeom>
        </p:spPr>
      </p:pic>
      <p:pic>
        <p:nvPicPr>
          <p:cNvPr id="25" name="Picture 24">
            <a:extLst>
              <a:ext uri="{FF2B5EF4-FFF2-40B4-BE49-F238E27FC236}">
                <a16:creationId xmlns:a16="http://schemas.microsoft.com/office/drawing/2014/main" id="{F918BF7C-441E-F69C-7C0B-0F17F25EF6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59368" y="5360545"/>
            <a:ext cx="1183540" cy="1183540"/>
          </a:xfrm>
          <a:prstGeom prst="rect">
            <a:avLst/>
          </a:prstGeom>
        </p:spPr>
      </p:pic>
      <p:pic>
        <p:nvPicPr>
          <p:cNvPr id="27" name="Picture 26">
            <a:extLst>
              <a:ext uri="{FF2B5EF4-FFF2-40B4-BE49-F238E27FC236}">
                <a16:creationId xmlns:a16="http://schemas.microsoft.com/office/drawing/2014/main" id="{1D554B5A-E53A-F060-E626-0C46BF6FB22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25345" y="4725624"/>
            <a:ext cx="1269841" cy="1269841"/>
          </a:xfrm>
          <a:prstGeom prst="rect">
            <a:avLst/>
          </a:prstGeom>
        </p:spPr>
      </p:pic>
      <p:pic>
        <p:nvPicPr>
          <p:cNvPr id="29" name="Picture 28">
            <a:extLst>
              <a:ext uri="{FF2B5EF4-FFF2-40B4-BE49-F238E27FC236}">
                <a16:creationId xmlns:a16="http://schemas.microsoft.com/office/drawing/2014/main" id="{62A2111D-69E7-3EDD-C366-A2B5814BF7A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93345" y="367885"/>
            <a:ext cx="1053579" cy="1053579"/>
          </a:xfrm>
          <a:prstGeom prst="rect">
            <a:avLst/>
          </a:prstGeom>
        </p:spPr>
      </p:pic>
      <p:pic>
        <p:nvPicPr>
          <p:cNvPr id="31" name="Picture 30">
            <a:extLst>
              <a:ext uri="{FF2B5EF4-FFF2-40B4-BE49-F238E27FC236}">
                <a16:creationId xmlns:a16="http://schemas.microsoft.com/office/drawing/2014/main" id="{99CA78DD-5FC7-AAF2-5E2E-38C07CC5FF3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32633" y="5164853"/>
            <a:ext cx="954438" cy="954438"/>
          </a:xfrm>
          <a:prstGeom prst="rect">
            <a:avLst/>
          </a:prstGeom>
        </p:spPr>
      </p:pic>
      <p:sp>
        <p:nvSpPr>
          <p:cNvPr id="32" name="TextBox 31">
            <a:extLst>
              <a:ext uri="{FF2B5EF4-FFF2-40B4-BE49-F238E27FC236}">
                <a16:creationId xmlns:a16="http://schemas.microsoft.com/office/drawing/2014/main" id="{6F333740-47C5-FA84-4DA5-3554786F2A08}"/>
              </a:ext>
            </a:extLst>
          </p:cNvPr>
          <p:cNvSpPr txBox="1"/>
          <p:nvPr/>
        </p:nvSpPr>
        <p:spPr>
          <a:xfrm>
            <a:off x="618587" y="3067839"/>
            <a:ext cx="3601879" cy="646331"/>
          </a:xfrm>
          <a:prstGeom prst="rect">
            <a:avLst/>
          </a:prstGeom>
          <a:noFill/>
        </p:spPr>
        <p:txBody>
          <a:bodyPr wrap="square" rtlCol="0">
            <a:spAutoFit/>
          </a:bodyPr>
          <a:lstStyle/>
          <a:p>
            <a:r>
              <a:rPr lang="en-US" sz="3600" b="1" dirty="0">
                <a:solidFill>
                  <a:schemeClr val="accent3">
                    <a:lumMod val="50000"/>
                  </a:schemeClr>
                </a:solidFill>
                <a:latin typeface="Deltha" pitchFamily="50" charset="0"/>
              </a:rPr>
              <a:t>The Circle</a:t>
            </a:r>
          </a:p>
        </p:txBody>
      </p:sp>
    </p:spTree>
    <p:extLst>
      <p:ext uri="{BB962C8B-B14F-4D97-AF65-F5344CB8AC3E}">
        <p14:creationId xmlns:p14="http://schemas.microsoft.com/office/powerpoint/2010/main" val="418436635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953DAB8-80B7-4097-A0E5-0F29A78F05FA}"/>
              </a:ext>
            </a:extLst>
          </p:cNvPr>
          <p:cNvSpPr/>
          <p:nvPr/>
        </p:nvSpPr>
        <p:spPr>
          <a:xfrm>
            <a:off x="4379089" y="-518692"/>
            <a:ext cx="7812911" cy="7812911"/>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DCE20B6-CC27-3053-5A03-B74D7EF613C1}"/>
              </a:ext>
            </a:extLst>
          </p:cNvPr>
          <p:cNvSpPr/>
          <p:nvPr/>
        </p:nvSpPr>
        <p:spPr>
          <a:xfrm>
            <a:off x="2768280" y="-508383"/>
            <a:ext cx="7812911" cy="7812911"/>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38F075A-937B-D4BA-DA45-4FFDF7D485E6}"/>
              </a:ext>
            </a:extLst>
          </p:cNvPr>
          <p:cNvSpPr/>
          <p:nvPr/>
        </p:nvSpPr>
        <p:spPr>
          <a:xfrm>
            <a:off x="1278038" y="-498074"/>
            <a:ext cx="7812911" cy="7812911"/>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C164BDB-3D3F-65C7-B66E-D18E5FB8827A}"/>
              </a:ext>
            </a:extLst>
          </p:cNvPr>
          <p:cNvSpPr/>
          <p:nvPr/>
        </p:nvSpPr>
        <p:spPr>
          <a:xfrm>
            <a:off x="-332771" y="-487765"/>
            <a:ext cx="7812911" cy="781291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CAB8FF5-3CEB-9DB6-9E88-5038089DB471}"/>
              </a:ext>
            </a:extLst>
          </p:cNvPr>
          <p:cNvSpPr/>
          <p:nvPr/>
        </p:nvSpPr>
        <p:spPr>
          <a:xfrm>
            <a:off x="-1943581" y="-529001"/>
            <a:ext cx="7812911" cy="781291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D0F6EA6-E505-8FE4-2F07-631A3DB906A8}"/>
              </a:ext>
            </a:extLst>
          </p:cNvPr>
          <p:cNvSpPr txBox="1"/>
          <p:nvPr/>
        </p:nvSpPr>
        <p:spPr>
          <a:xfrm>
            <a:off x="1962875" y="2787597"/>
            <a:ext cx="3663389" cy="1200329"/>
          </a:xfrm>
          <a:prstGeom prst="rect">
            <a:avLst/>
          </a:prstGeom>
          <a:noFill/>
        </p:spPr>
        <p:txBody>
          <a:bodyPr wrap="square" rtlCol="0">
            <a:spAutoFit/>
          </a:bodyPr>
          <a:lstStyle/>
          <a:p>
            <a:r>
              <a:rPr lang="en-US" sz="7200" dirty="0">
                <a:solidFill>
                  <a:srgbClr val="002060"/>
                </a:solidFill>
                <a:latin typeface="Impact" panose="020B0806030902050204" pitchFamily="34" charset="0"/>
              </a:rPr>
              <a:t>Modules</a:t>
            </a:r>
            <a:endParaRPr lang="en-US" sz="4800" dirty="0">
              <a:solidFill>
                <a:srgbClr val="002060"/>
              </a:solidFill>
              <a:latin typeface="Impact" panose="020B0806030902050204" pitchFamily="34" charset="0"/>
            </a:endParaRPr>
          </a:p>
        </p:txBody>
      </p:sp>
      <p:sp>
        <p:nvSpPr>
          <p:cNvPr id="12" name="TextBox 11">
            <a:extLst>
              <a:ext uri="{FF2B5EF4-FFF2-40B4-BE49-F238E27FC236}">
                <a16:creationId xmlns:a16="http://schemas.microsoft.com/office/drawing/2014/main" id="{8FBC5619-7682-D8FC-0294-2499D02084E6}"/>
              </a:ext>
            </a:extLst>
          </p:cNvPr>
          <p:cNvSpPr txBox="1"/>
          <p:nvPr/>
        </p:nvSpPr>
        <p:spPr>
          <a:xfrm>
            <a:off x="6431669" y="2828835"/>
            <a:ext cx="776466" cy="1200329"/>
          </a:xfrm>
          <a:prstGeom prst="rect">
            <a:avLst/>
          </a:prstGeom>
          <a:noFill/>
        </p:spPr>
        <p:txBody>
          <a:bodyPr wrap="square" rtlCol="0">
            <a:spAutoFit/>
          </a:bodyPr>
          <a:lstStyle/>
          <a:p>
            <a:r>
              <a:rPr lang="en-US" sz="7200" dirty="0">
                <a:solidFill>
                  <a:schemeClr val="accent5">
                    <a:lumMod val="50000"/>
                  </a:schemeClr>
                </a:solidFill>
                <a:latin typeface="Impact" panose="020B0806030902050204" pitchFamily="34" charset="0"/>
              </a:rPr>
              <a:t>1</a:t>
            </a:r>
            <a:endParaRPr lang="en-US" sz="8000" dirty="0">
              <a:solidFill>
                <a:schemeClr val="accent5">
                  <a:lumMod val="50000"/>
                </a:schemeClr>
              </a:solidFill>
              <a:latin typeface="Impact" panose="020B0806030902050204" pitchFamily="34" charset="0"/>
            </a:endParaRPr>
          </a:p>
        </p:txBody>
      </p:sp>
      <p:sp>
        <p:nvSpPr>
          <p:cNvPr id="13" name="TextBox 12">
            <a:extLst>
              <a:ext uri="{FF2B5EF4-FFF2-40B4-BE49-F238E27FC236}">
                <a16:creationId xmlns:a16="http://schemas.microsoft.com/office/drawing/2014/main" id="{31D4B107-D089-B908-9AE5-25689E46C0EF}"/>
              </a:ext>
            </a:extLst>
          </p:cNvPr>
          <p:cNvSpPr txBox="1"/>
          <p:nvPr/>
        </p:nvSpPr>
        <p:spPr>
          <a:xfrm>
            <a:off x="8047783" y="2777289"/>
            <a:ext cx="776466" cy="1200329"/>
          </a:xfrm>
          <a:prstGeom prst="rect">
            <a:avLst/>
          </a:prstGeom>
          <a:noFill/>
        </p:spPr>
        <p:txBody>
          <a:bodyPr wrap="square" rtlCol="0">
            <a:spAutoFit/>
          </a:bodyPr>
          <a:lstStyle/>
          <a:p>
            <a:r>
              <a:rPr lang="en-US" sz="7200" dirty="0">
                <a:solidFill>
                  <a:schemeClr val="accent5">
                    <a:lumMod val="75000"/>
                  </a:schemeClr>
                </a:solidFill>
                <a:latin typeface="Impact" panose="020B0806030902050204" pitchFamily="34" charset="0"/>
              </a:rPr>
              <a:t>2</a:t>
            </a:r>
            <a:endParaRPr lang="en-US" sz="8000" dirty="0">
              <a:solidFill>
                <a:schemeClr val="accent5">
                  <a:lumMod val="75000"/>
                </a:schemeClr>
              </a:solidFill>
              <a:latin typeface="Impact" panose="020B0806030902050204" pitchFamily="34" charset="0"/>
            </a:endParaRPr>
          </a:p>
        </p:txBody>
      </p:sp>
      <p:sp>
        <p:nvSpPr>
          <p:cNvPr id="14" name="TextBox 13">
            <a:extLst>
              <a:ext uri="{FF2B5EF4-FFF2-40B4-BE49-F238E27FC236}">
                <a16:creationId xmlns:a16="http://schemas.microsoft.com/office/drawing/2014/main" id="{370A9574-AD41-C88B-8D51-7EAF009DFBAA}"/>
              </a:ext>
            </a:extLst>
          </p:cNvPr>
          <p:cNvSpPr txBox="1"/>
          <p:nvPr/>
        </p:nvSpPr>
        <p:spPr>
          <a:xfrm>
            <a:off x="9658592" y="2777288"/>
            <a:ext cx="776466" cy="1200329"/>
          </a:xfrm>
          <a:prstGeom prst="rect">
            <a:avLst/>
          </a:prstGeom>
          <a:noFill/>
        </p:spPr>
        <p:txBody>
          <a:bodyPr wrap="square" rtlCol="0">
            <a:spAutoFit/>
          </a:bodyPr>
          <a:lstStyle/>
          <a:p>
            <a:r>
              <a:rPr lang="en-US" sz="7200" dirty="0">
                <a:solidFill>
                  <a:schemeClr val="accent5">
                    <a:lumMod val="60000"/>
                    <a:lumOff val="40000"/>
                  </a:schemeClr>
                </a:solidFill>
                <a:latin typeface="Impact" panose="020B0806030902050204" pitchFamily="34" charset="0"/>
              </a:rPr>
              <a:t>3</a:t>
            </a:r>
            <a:endParaRPr lang="en-US" sz="8000" dirty="0">
              <a:solidFill>
                <a:schemeClr val="accent5">
                  <a:lumMod val="60000"/>
                  <a:lumOff val="40000"/>
                </a:schemeClr>
              </a:solidFill>
              <a:latin typeface="Impact" panose="020B0806030902050204" pitchFamily="34" charset="0"/>
            </a:endParaRPr>
          </a:p>
        </p:txBody>
      </p:sp>
      <p:sp>
        <p:nvSpPr>
          <p:cNvPr id="15" name="TextBox 14">
            <a:extLst>
              <a:ext uri="{FF2B5EF4-FFF2-40B4-BE49-F238E27FC236}">
                <a16:creationId xmlns:a16="http://schemas.microsoft.com/office/drawing/2014/main" id="{78B62148-BE70-239E-B759-CFF50BE5C236}"/>
              </a:ext>
            </a:extLst>
          </p:cNvPr>
          <p:cNvSpPr txBox="1"/>
          <p:nvPr/>
        </p:nvSpPr>
        <p:spPr>
          <a:xfrm>
            <a:off x="11147870" y="2777288"/>
            <a:ext cx="776466" cy="1200329"/>
          </a:xfrm>
          <a:prstGeom prst="rect">
            <a:avLst/>
          </a:prstGeom>
          <a:noFill/>
        </p:spPr>
        <p:txBody>
          <a:bodyPr wrap="square" rtlCol="0">
            <a:spAutoFit/>
          </a:bodyPr>
          <a:lstStyle/>
          <a:p>
            <a:r>
              <a:rPr lang="en-US" sz="7200" dirty="0">
                <a:solidFill>
                  <a:schemeClr val="accent5">
                    <a:lumMod val="40000"/>
                    <a:lumOff val="60000"/>
                  </a:schemeClr>
                </a:solidFill>
                <a:latin typeface="Impact" panose="020B0806030902050204" pitchFamily="34" charset="0"/>
              </a:rPr>
              <a:t>4</a:t>
            </a:r>
            <a:endParaRPr lang="en-US" sz="8000" dirty="0">
              <a:solidFill>
                <a:schemeClr val="accent5">
                  <a:lumMod val="40000"/>
                  <a:lumOff val="60000"/>
                </a:schemeClr>
              </a:solidFill>
              <a:latin typeface="Impact" panose="020B0806030902050204" pitchFamily="34" charset="0"/>
            </a:endParaRPr>
          </a:p>
        </p:txBody>
      </p:sp>
    </p:spTree>
    <p:extLst>
      <p:ext uri="{BB962C8B-B14F-4D97-AF65-F5344CB8AC3E}">
        <p14:creationId xmlns:p14="http://schemas.microsoft.com/office/powerpoint/2010/main" val="3579409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0D7F26EB-5B18-B008-39A7-FFFBBDD8551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3833F7FE-3F44-7CAB-9B5D-0395EDDB28E0}"/>
              </a:ext>
            </a:extLst>
          </p:cNvPr>
          <p:cNvSpPr/>
          <p:nvPr/>
        </p:nvSpPr>
        <p:spPr>
          <a:xfrm>
            <a:off x="4379089" y="-518692"/>
            <a:ext cx="7812911" cy="7812911"/>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6CE3A3D-7195-7604-70DF-90562C69E2A3}"/>
              </a:ext>
            </a:extLst>
          </p:cNvPr>
          <p:cNvSpPr/>
          <p:nvPr/>
        </p:nvSpPr>
        <p:spPr>
          <a:xfrm>
            <a:off x="2768280" y="-508383"/>
            <a:ext cx="7812911" cy="7812911"/>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693C2CC-CC3B-9B96-8B5D-0BB9D2892549}"/>
              </a:ext>
            </a:extLst>
          </p:cNvPr>
          <p:cNvSpPr/>
          <p:nvPr/>
        </p:nvSpPr>
        <p:spPr>
          <a:xfrm>
            <a:off x="1278038" y="-498074"/>
            <a:ext cx="7812911" cy="7812911"/>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75F0AAA-3686-0228-9A82-22FCD12B3AFB}"/>
              </a:ext>
            </a:extLst>
          </p:cNvPr>
          <p:cNvSpPr/>
          <p:nvPr/>
        </p:nvSpPr>
        <p:spPr>
          <a:xfrm>
            <a:off x="-332771" y="-487765"/>
            <a:ext cx="7812911" cy="781291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3C29D6E-2605-0164-D7AD-ECA7FDCAE17D}"/>
              </a:ext>
            </a:extLst>
          </p:cNvPr>
          <p:cNvSpPr/>
          <p:nvPr/>
        </p:nvSpPr>
        <p:spPr>
          <a:xfrm>
            <a:off x="-7812911" y="-477456"/>
            <a:ext cx="7812911" cy="781291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FB6EA7E-66B5-61BF-2CC0-C32F4B6F3F0B}"/>
              </a:ext>
            </a:extLst>
          </p:cNvPr>
          <p:cNvSpPr txBox="1"/>
          <p:nvPr/>
        </p:nvSpPr>
        <p:spPr>
          <a:xfrm>
            <a:off x="-3906455" y="2839142"/>
            <a:ext cx="3663389" cy="1200329"/>
          </a:xfrm>
          <a:prstGeom prst="rect">
            <a:avLst/>
          </a:prstGeom>
          <a:noFill/>
        </p:spPr>
        <p:txBody>
          <a:bodyPr wrap="square" rtlCol="0">
            <a:spAutoFit/>
          </a:bodyPr>
          <a:lstStyle/>
          <a:p>
            <a:r>
              <a:rPr lang="en-US" sz="7200" dirty="0">
                <a:solidFill>
                  <a:srgbClr val="002060"/>
                </a:solidFill>
                <a:latin typeface="Impact" panose="020B0806030902050204" pitchFamily="34" charset="0"/>
              </a:rPr>
              <a:t>Modules</a:t>
            </a:r>
            <a:endParaRPr lang="en-US" sz="4800" dirty="0">
              <a:solidFill>
                <a:srgbClr val="002060"/>
              </a:solidFill>
              <a:latin typeface="Impact" panose="020B0806030902050204" pitchFamily="34" charset="0"/>
            </a:endParaRPr>
          </a:p>
        </p:txBody>
      </p:sp>
      <p:sp>
        <p:nvSpPr>
          <p:cNvPr id="12" name="TextBox 11">
            <a:extLst>
              <a:ext uri="{FF2B5EF4-FFF2-40B4-BE49-F238E27FC236}">
                <a16:creationId xmlns:a16="http://schemas.microsoft.com/office/drawing/2014/main" id="{31B56245-0512-0DF8-2F07-D0EA66C27F86}"/>
              </a:ext>
            </a:extLst>
          </p:cNvPr>
          <p:cNvSpPr txBox="1"/>
          <p:nvPr/>
        </p:nvSpPr>
        <p:spPr>
          <a:xfrm>
            <a:off x="6431669" y="2828835"/>
            <a:ext cx="776466" cy="1200329"/>
          </a:xfrm>
          <a:prstGeom prst="rect">
            <a:avLst/>
          </a:prstGeom>
          <a:noFill/>
        </p:spPr>
        <p:txBody>
          <a:bodyPr wrap="square" rtlCol="0">
            <a:spAutoFit/>
          </a:bodyPr>
          <a:lstStyle/>
          <a:p>
            <a:r>
              <a:rPr lang="en-US" sz="7200" dirty="0">
                <a:solidFill>
                  <a:schemeClr val="accent5">
                    <a:lumMod val="50000"/>
                  </a:schemeClr>
                </a:solidFill>
                <a:latin typeface="Impact" panose="020B0806030902050204" pitchFamily="34" charset="0"/>
              </a:rPr>
              <a:t>1</a:t>
            </a:r>
            <a:endParaRPr lang="en-US" sz="8000" dirty="0">
              <a:solidFill>
                <a:schemeClr val="accent5">
                  <a:lumMod val="50000"/>
                </a:schemeClr>
              </a:solidFill>
              <a:latin typeface="Impact" panose="020B0806030902050204" pitchFamily="34" charset="0"/>
            </a:endParaRPr>
          </a:p>
        </p:txBody>
      </p:sp>
      <p:sp>
        <p:nvSpPr>
          <p:cNvPr id="13" name="TextBox 12">
            <a:extLst>
              <a:ext uri="{FF2B5EF4-FFF2-40B4-BE49-F238E27FC236}">
                <a16:creationId xmlns:a16="http://schemas.microsoft.com/office/drawing/2014/main" id="{3ED06009-D712-8FB3-3CD7-41724D7743A7}"/>
              </a:ext>
            </a:extLst>
          </p:cNvPr>
          <p:cNvSpPr txBox="1"/>
          <p:nvPr/>
        </p:nvSpPr>
        <p:spPr>
          <a:xfrm>
            <a:off x="8047783" y="2777289"/>
            <a:ext cx="776466" cy="1200329"/>
          </a:xfrm>
          <a:prstGeom prst="rect">
            <a:avLst/>
          </a:prstGeom>
          <a:noFill/>
        </p:spPr>
        <p:txBody>
          <a:bodyPr wrap="square" rtlCol="0">
            <a:spAutoFit/>
          </a:bodyPr>
          <a:lstStyle/>
          <a:p>
            <a:r>
              <a:rPr lang="en-US" sz="7200" dirty="0">
                <a:solidFill>
                  <a:schemeClr val="accent5">
                    <a:lumMod val="75000"/>
                  </a:schemeClr>
                </a:solidFill>
                <a:latin typeface="Impact" panose="020B0806030902050204" pitchFamily="34" charset="0"/>
              </a:rPr>
              <a:t>2</a:t>
            </a:r>
            <a:endParaRPr lang="en-US" sz="8000" dirty="0">
              <a:solidFill>
                <a:schemeClr val="accent5">
                  <a:lumMod val="75000"/>
                </a:schemeClr>
              </a:solidFill>
              <a:latin typeface="Impact" panose="020B0806030902050204" pitchFamily="34" charset="0"/>
            </a:endParaRPr>
          </a:p>
        </p:txBody>
      </p:sp>
      <p:sp>
        <p:nvSpPr>
          <p:cNvPr id="14" name="TextBox 13">
            <a:extLst>
              <a:ext uri="{FF2B5EF4-FFF2-40B4-BE49-F238E27FC236}">
                <a16:creationId xmlns:a16="http://schemas.microsoft.com/office/drawing/2014/main" id="{807CAF6C-9B56-1885-E1DE-AB8E87F1CBE1}"/>
              </a:ext>
            </a:extLst>
          </p:cNvPr>
          <p:cNvSpPr txBox="1"/>
          <p:nvPr/>
        </p:nvSpPr>
        <p:spPr>
          <a:xfrm>
            <a:off x="9658592" y="2777288"/>
            <a:ext cx="776466" cy="1200329"/>
          </a:xfrm>
          <a:prstGeom prst="rect">
            <a:avLst/>
          </a:prstGeom>
          <a:noFill/>
        </p:spPr>
        <p:txBody>
          <a:bodyPr wrap="square" rtlCol="0">
            <a:spAutoFit/>
          </a:bodyPr>
          <a:lstStyle/>
          <a:p>
            <a:r>
              <a:rPr lang="en-US" sz="7200" dirty="0">
                <a:solidFill>
                  <a:schemeClr val="accent5">
                    <a:lumMod val="60000"/>
                    <a:lumOff val="40000"/>
                  </a:schemeClr>
                </a:solidFill>
                <a:latin typeface="Impact" panose="020B0806030902050204" pitchFamily="34" charset="0"/>
              </a:rPr>
              <a:t>3</a:t>
            </a:r>
            <a:endParaRPr lang="en-US" sz="8000" dirty="0">
              <a:solidFill>
                <a:schemeClr val="accent5">
                  <a:lumMod val="60000"/>
                  <a:lumOff val="40000"/>
                </a:schemeClr>
              </a:solidFill>
              <a:latin typeface="Impact" panose="020B0806030902050204" pitchFamily="34" charset="0"/>
            </a:endParaRPr>
          </a:p>
        </p:txBody>
      </p:sp>
      <p:sp>
        <p:nvSpPr>
          <p:cNvPr id="15" name="TextBox 14">
            <a:extLst>
              <a:ext uri="{FF2B5EF4-FFF2-40B4-BE49-F238E27FC236}">
                <a16:creationId xmlns:a16="http://schemas.microsoft.com/office/drawing/2014/main" id="{6491E05F-1D59-7A62-7F8F-4C0F9D5CD593}"/>
              </a:ext>
            </a:extLst>
          </p:cNvPr>
          <p:cNvSpPr txBox="1"/>
          <p:nvPr/>
        </p:nvSpPr>
        <p:spPr>
          <a:xfrm>
            <a:off x="11147870" y="2777288"/>
            <a:ext cx="776466" cy="1200329"/>
          </a:xfrm>
          <a:prstGeom prst="rect">
            <a:avLst/>
          </a:prstGeom>
          <a:noFill/>
        </p:spPr>
        <p:txBody>
          <a:bodyPr wrap="square" rtlCol="0">
            <a:spAutoFit/>
          </a:bodyPr>
          <a:lstStyle/>
          <a:p>
            <a:r>
              <a:rPr lang="en-US" sz="7200" dirty="0">
                <a:solidFill>
                  <a:schemeClr val="accent5">
                    <a:lumMod val="40000"/>
                    <a:lumOff val="60000"/>
                  </a:schemeClr>
                </a:solidFill>
                <a:latin typeface="Impact" panose="020B0806030902050204" pitchFamily="34" charset="0"/>
              </a:rPr>
              <a:t>4</a:t>
            </a:r>
            <a:endParaRPr lang="en-US" sz="8000" dirty="0">
              <a:solidFill>
                <a:schemeClr val="accent5">
                  <a:lumMod val="40000"/>
                  <a:lumOff val="60000"/>
                </a:schemeClr>
              </a:solidFill>
              <a:latin typeface="Impact" panose="020B0806030902050204" pitchFamily="34" charset="0"/>
            </a:endParaRPr>
          </a:p>
        </p:txBody>
      </p:sp>
      <p:sp>
        <p:nvSpPr>
          <p:cNvPr id="3" name="Title 2">
            <a:extLst>
              <a:ext uri="{FF2B5EF4-FFF2-40B4-BE49-F238E27FC236}">
                <a16:creationId xmlns:a16="http://schemas.microsoft.com/office/drawing/2014/main" id="{54B85192-601C-D8E9-FD02-54724763EF93}"/>
              </a:ext>
            </a:extLst>
          </p:cNvPr>
          <p:cNvSpPr>
            <a:spLocks noGrp="1"/>
          </p:cNvSpPr>
          <p:nvPr>
            <p:ph type="title"/>
          </p:nvPr>
        </p:nvSpPr>
        <p:spPr>
          <a:xfrm>
            <a:off x="1112618" y="368831"/>
            <a:ext cx="4922131" cy="1325563"/>
          </a:xfrm>
        </p:spPr>
        <p:txBody>
          <a:bodyPr>
            <a:noAutofit/>
          </a:bodyPr>
          <a:lstStyle/>
          <a:p>
            <a:r>
              <a:rPr lang="en-US" sz="4000" b="1" dirty="0">
                <a:solidFill>
                  <a:schemeClr val="accent5">
                    <a:lumMod val="50000"/>
                  </a:schemeClr>
                </a:solidFill>
                <a:latin typeface="Equinox Bold" panose="02000500000000000000" pitchFamily="2" charset="0"/>
              </a:rPr>
              <a:t>MITRE ATT&amp;CK Framework</a:t>
            </a:r>
            <a:endParaRPr lang="en-US" sz="4000" dirty="0">
              <a:solidFill>
                <a:schemeClr val="accent5">
                  <a:lumMod val="50000"/>
                </a:schemeClr>
              </a:solidFill>
              <a:latin typeface="Equinox Bold" panose="02000500000000000000" pitchFamily="2" charset="0"/>
            </a:endParaRPr>
          </a:p>
        </p:txBody>
      </p:sp>
      <p:sp>
        <p:nvSpPr>
          <p:cNvPr id="9" name="Content Placeholder 8">
            <a:extLst>
              <a:ext uri="{FF2B5EF4-FFF2-40B4-BE49-F238E27FC236}">
                <a16:creationId xmlns:a16="http://schemas.microsoft.com/office/drawing/2014/main" id="{956A9BFB-832D-93A5-639D-7C1B388667DA}"/>
              </a:ext>
            </a:extLst>
          </p:cNvPr>
          <p:cNvSpPr>
            <a:spLocks noGrp="1"/>
          </p:cNvSpPr>
          <p:nvPr>
            <p:ph idx="1"/>
          </p:nvPr>
        </p:nvSpPr>
        <p:spPr>
          <a:xfrm>
            <a:off x="1112618" y="2104572"/>
            <a:ext cx="4602861" cy="3413148"/>
          </a:xfrm>
        </p:spPr>
        <p:txBody>
          <a:bodyPr>
            <a:normAutofit/>
          </a:bodyPr>
          <a:lstStyle/>
          <a:p>
            <a:pPr marL="0" indent="0">
              <a:buNone/>
            </a:pPr>
            <a:r>
              <a:rPr lang="en-US" sz="2400" dirty="0"/>
              <a:t>Detecting attacks is only half the battle. Understanding </a:t>
            </a:r>
            <a:r>
              <a:rPr lang="en-US" sz="2400" i="1" dirty="0"/>
              <a:t>how</a:t>
            </a:r>
            <a:r>
              <a:rPr lang="en-US" sz="2400" dirty="0"/>
              <a:t> an attack fits into the broader adversary playbook is what separates a reactive alert system from a proactive security operations center. </a:t>
            </a:r>
            <a:r>
              <a:rPr lang="en-US" sz="2400" dirty="0" err="1"/>
              <a:t>Wazuh's</a:t>
            </a:r>
            <a:r>
              <a:rPr lang="en-US" sz="2400" dirty="0"/>
              <a:t> built-in MITRE ATT&amp;CK module automatically maps every alert to the industry-standard framework .</a:t>
            </a:r>
            <a:endParaRPr lang="en-US" sz="1400" dirty="0"/>
          </a:p>
        </p:txBody>
      </p:sp>
    </p:spTree>
    <p:extLst>
      <p:ext uri="{BB962C8B-B14F-4D97-AF65-F5344CB8AC3E}">
        <p14:creationId xmlns:p14="http://schemas.microsoft.com/office/powerpoint/2010/main" val="1967926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5D34F572-DBA4-B5E7-0E1A-3D8AD1DF25DC}"/>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CBD9742-E169-C85C-2B56-1DDD17CF4557}"/>
              </a:ext>
            </a:extLst>
          </p:cNvPr>
          <p:cNvSpPr/>
          <p:nvPr/>
        </p:nvSpPr>
        <p:spPr>
          <a:xfrm>
            <a:off x="4379089" y="-518692"/>
            <a:ext cx="7812911" cy="7812911"/>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D5BAEED-DC5E-94F8-7226-56FCB07EC9C4}"/>
              </a:ext>
            </a:extLst>
          </p:cNvPr>
          <p:cNvSpPr/>
          <p:nvPr/>
        </p:nvSpPr>
        <p:spPr>
          <a:xfrm>
            <a:off x="2768280" y="-508383"/>
            <a:ext cx="7812911" cy="7812911"/>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1CCA86D-A620-FE8B-B1F3-8EEBC420BA72}"/>
              </a:ext>
            </a:extLst>
          </p:cNvPr>
          <p:cNvSpPr/>
          <p:nvPr/>
        </p:nvSpPr>
        <p:spPr>
          <a:xfrm>
            <a:off x="1278038" y="-498074"/>
            <a:ext cx="7812911" cy="7812911"/>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4E6E19E-1910-96E2-55B6-07280488C6DF}"/>
              </a:ext>
            </a:extLst>
          </p:cNvPr>
          <p:cNvSpPr/>
          <p:nvPr/>
        </p:nvSpPr>
        <p:spPr>
          <a:xfrm>
            <a:off x="-7812911" y="-477456"/>
            <a:ext cx="7812911" cy="781291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B06E480-E1B0-A4AB-E6E2-E217C3671458}"/>
              </a:ext>
            </a:extLst>
          </p:cNvPr>
          <p:cNvSpPr/>
          <p:nvPr/>
        </p:nvSpPr>
        <p:spPr>
          <a:xfrm>
            <a:off x="-7812911" y="-477456"/>
            <a:ext cx="7812911" cy="781291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856ED2C-5855-C1CF-11F5-07754838F645}"/>
              </a:ext>
            </a:extLst>
          </p:cNvPr>
          <p:cNvSpPr txBox="1"/>
          <p:nvPr/>
        </p:nvSpPr>
        <p:spPr>
          <a:xfrm>
            <a:off x="-3906455" y="2839142"/>
            <a:ext cx="3663389" cy="1200329"/>
          </a:xfrm>
          <a:prstGeom prst="rect">
            <a:avLst/>
          </a:prstGeom>
          <a:noFill/>
        </p:spPr>
        <p:txBody>
          <a:bodyPr wrap="square" rtlCol="0">
            <a:spAutoFit/>
          </a:bodyPr>
          <a:lstStyle/>
          <a:p>
            <a:r>
              <a:rPr lang="en-US" sz="7200" dirty="0">
                <a:solidFill>
                  <a:srgbClr val="002060"/>
                </a:solidFill>
                <a:latin typeface="Impact" panose="020B0806030902050204" pitchFamily="34" charset="0"/>
              </a:rPr>
              <a:t>Modules</a:t>
            </a:r>
            <a:endParaRPr lang="en-US" sz="4800" dirty="0">
              <a:solidFill>
                <a:srgbClr val="002060"/>
              </a:solidFill>
              <a:latin typeface="Impact" panose="020B0806030902050204" pitchFamily="34" charset="0"/>
            </a:endParaRPr>
          </a:p>
        </p:txBody>
      </p:sp>
      <p:sp>
        <p:nvSpPr>
          <p:cNvPr id="12" name="TextBox 11">
            <a:extLst>
              <a:ext uri="{FF2B5EF4-FFF2-40B4-BE49-F238E27FC236}">
                <a16:creationId xmlns:a16="http://schemas.microsoft.com/office/drawing/2014/main" id="{265ECFED-C65A-C46D-73AF-BB61E24BAA85}"/>
              </a:ext>
            </a:extLst>
          </p:cNvPr>
          <p:cNvSpPr txBox="1"/>
          <p:nvPr/>
        </p:nvSpPr>
        <p:spPr>
          <a:xfrm>
            <a:off x="-1048471" y="2839144"/>
            <a:ext cx="776466" cy="1200329"/>
          </a:xfrm>
          <a:prstGeom prst="rect">
            <a:avLst/>
          </a:prstGeom>
          <a:noFill/>
        </p:spPr>
        <p:txBody>
          <a:bodyPr wrap="square" rtlCol="0">
            <a:spAutoFit/>
          </a:bodyPr>
          <a:lstStyle/>
          <a:p>
            <a:r>
              <a:rPr lang="en-US" sz="7200" dirty="0">
                <a:solidFill>
                  <a:schemeClr val="accent5">
                    <a:lumMod val="50000"/>
                  </a:schemeClr>
                </a:solidFill>
                <a:latin typeface="Impact" panose="020B0806030902050204" pitchFamily="34" charset="0"/>
              </a:rPr>
              <a:t>1</a:t>
            </a:r>
            <a:endParaRPr lang="en-US" sz="8000" dirty="0">
              <a:solidFill>
                <a:schemeClr val="accent5">
                  <a:lumMod val="50000"/>
                </a:schemeClr>
              </a:solidFill>
              <a:latin typeface="Impact" panose="020B0806030902050204" pitchFamily="34" charset="0"/>
            </a:endParaRPr>
          </a:p>
        </p:txBody>
      </p:sp>
      <p:sp>
        <p:nvSpPr>
          <p:cNvPr id="13" name="TextBox 12">
            <a:extLst>
              <a:ext uri="{FF2B5EF4-FFF2-40B4-BE49-F238E27FC236}">
                <a16:creationId xmlns:a16="http://schemas.microsoft.com/office/drawing/2014/main" id="{FC38F4FF-CB6F-7636-6143-B9B4CE379FBF}"/>
              </a:ext>
            </a:extLst>
          </p:cNvPr>
          <p:cNvSpPr txBox="1"/>
          <p:nvPr/>
        </p:nvSpPr>
        <p:spPr>
          <a:xfrm>
            <a:off x="8047783" y="2777289"/>
            <a:ext cx="776466" cy="1200329"/>
          </a:xfrm>
          <a:prstGeom prst="rect">
            <a:avLst/>
          </a:prstGeom>
          <a:noFill/>
        </p:spPr>
        <p:txBody>
          <a:bodyPr wrap="square" rtlCol="0">
            <a:spAutoFit/>
          </a:bodyPr>
          <a:lstStyle/>
          <a:p>
            <a:r>
              <a:rPr lang="en-US" sz="7200" dirty="0">
                <a:solidFill>
                  <a:schemeClr val="accent5">
                    <a:lumMod val="75000"/>
                  </a:schemeClr>
                </a:solidFill>
                <a:latin typeface="Impact" panose="020B0806030902050204" pitchFamily="34" charset="0"/>
              </a:rPr>
              <a:t>2</a:t>
            </a:r>
            <a:endParaRPr lang="en-US" sz="8000" dirty="0">
              <a:solidFill>
                <a:schemeClr val="accent5">
                  <a:lumMod val="75000"/>
                </a:schemeClr>
              </a:solidFill>
              <a:latin typeface="Impact" panose="020B0806030902050204" pitchFamily="34" charset="0"/>
            </a:endParaRPr>
          </a:p>
        </p:txBody>
      </p:sp>
      <p:sp>
        <p:nvSpPr>
          <p:cNvPr id="14" name="TextBox 13">
            <a:extLst>
              <a:ext uri="{FF2B5EF4-FFF2-40B4-BE49-F238E27FC236}">
                <a16:creationId xmlns:a16="http://schemas.microsoft.com/office/drawing/2014/main" id="{F1C1F8B6-AEA6-CE1B-00F6-F7C575A41545}"/>
              </a:ext>
            </a:extLst>
          </p:cNvPr>
          <p:cNvSpPr txBox="1"/>
          <p:nvPr/>
        </p:nvSpPr>
        <p:spPr>
          <a:xfrm>
            <a:off x="9658592" y="2777288"/>
            <a:ext cx="776466" cy="1200329"/>
          </a:xfrm>
          <a:prstGeom prst="rect">
            <a:avLst/>
          </a:prstGeom>
          <a:noFill/>
        </p:spPr>
        <p:txBody>
          <a:bodyPr wrap="square" rtlCol="0">
            <a:spAutoFit/>
          </a:bodyPr>
          <a:lstStyle/>
          <a:p>
            <a:r>
              <a:rPr lang="en-US" sz="7200" dirty="0">
                <a:solidFill>
                  <a:schemeClr val="accent5">
                    <a:lumMod val="60000"/>
                    <a:lumOff val="40000"/>
                  </a:schemeClr>
                </a:solidFill>
                <a:latin typeface="Impact" panose="020B0806030902050204" pitchFamily="34" charset="0"/>
              </a:rPr>
              <a:t>3</a:t>
            </a:r>
            <a:endParaRPr lang="en-US" sz="8000" dirty="0">
              <a:solidFill>
                <a:schemeClr val="accent5">
                  <a:lumMod val="60000"/>
                  <a:lumOff val="40000"/>
                </a:schemeClr>
              </a:solidFill>
              <a:latin typeface="Impact" panose="020B0806030902050204" pitchFamily="34" charset="0"/>
            </a:endParaRPr>
          </a:p>
        </p:txBody>
      </p:sp>
      <p:sp>
        <p:nvSpPr>
          <p:cNvPr id="15" name="TextBox 14">
            <a:extLst>
              <a:ext uri="{FF2B5EF4-FFF2-40B4-BE49-F238E27FC236}">
                <a16:creationId xmlns:a16="http://schemas.microsoft.com/office/drawing/2014/main" id="{8E443B62-FFBA-59FA-8568-29C5388B7558}"/>
              </a:ext>
            </a:extLst>
          </p:cNvPr>
          <p:cNvSpPr txBox="1"/>
          <p:nvPr/>
        </p:nvSpPr>
        <p:spPr>
          <a:xfrm>
            <a:off x="11147870" y="2777288"/>
            <a:ext cx="776466" cy="1200329"/>
          </a:xfrm>
          <a:prstGeom prst="rect">
            <a:avLst/>
          </a:prstGeom>
          <a:noFill/>
        </p:spPr>
        <p:txBody>
          <a:bodyPr wrap="square" rtlCol="0">
            <a:spAutoFit/>
          </a:bodyPr>
          <a:lstStyle/>
          <a:p>
            <a:r>
              <a:rPr lang="en-US" sz="7200" dirty="0">
                <a:solidFill>
                  <a:schemeClr val="accent5">
                    <a:lumMod val="40000"/>
                    <a:lumOff val="60000"/>
                  </a:schemeClr>
                </a:solidFill>
                <a:latin typeface="Impact" panose="020B0806030902050204" pitchFamily="34" charset="0"/>
              </a:rPr>
              <a:t>4</a:t>
            </a:r>
            <a:endParaRPr lang="en-US" sz="8000" dirty="0">
              <a:solidFill>
                <a:schemeClr val="accent5">
                  <a:lumMod val="40000"/>
                  <a:lumOff val="60000"/>
                </a:schemeClr>
              </a:solidFill>
              <a:latin typeface="Impact" panose="020B0806030902050204" pitchFamily="34" charset="0"/>
            </a:endParaRPr>
          </a:p>
        </p:txBody>
      </p:sp>
      <p:sp>
        <p:nvSpPr>
          <p:cNvPr id="2" name="Title 1">
            <a:extLst>
              <a:ext uri="{FF2B5EF4-FFF2-40B4-BE49-F238E27FC236}">
                <a16:creationId xmlns:a16="http://schemas.microsoft.com/office/drawing/2014/main" id="{EC73CB65-181E-A0EA-7F6E-E3F792A40464}"/>
              </a:ext>
            </a:extLst>
          </p:cNvPr>
          <p:cNvSpPr>
            <a:spLocks noGrp="1"/>
          </p:cNvSpPr>
          <p:nvPr>
            <p:ph type="title"/>
          </p:nvPr>
        </p:nvSpPr>
        <p:spPr>
          <a:xfrm>
            <a:off x="1931617" y="504267"/>
            <a:ext cx="4316208" cy="1325563"/>
          </a:xfrm>
        </p:spPr>
        <p:txBody>
          <a:bodyPr/>
          <a:lstStyle/>
          <a:p>
            <a:r>
              <a:rPr lang="en-US" b="1" dirty="0">
                <a:solidFill>
                  <a:schemeClr val="accent5">
                    <a:lumMod val="75000"/>
                  </a:schemeClr>
                </a:solidFill>
                <a:latin typeface="Deltha" pitchFamily="2" charset="0"/>
              </a:rPr>
              <a:t>Threat Hunting</a:t>
            </a:r>
            <a:endParaRPr lang="en-US" dirty="0">
              <a:solidFill>
                <a:schemeClr val="accent5">
                  <a:lumMod val="75000"/>
                </a:schemeClr>
              </a:solidFill>
              <a:latin typeface="Deltha" pitchFamily="2" charset="0"/>
            </a:endParaRPr>
          </a:p>
        </p:txBody>
      </p:sp>
      <p:sp>
        <p:nvSpPr>
          <p:cNvPr id="3" name="Content Placeholder 2">
            <a:extLst>
              <a:ext uri="{FF2B5EF4-FFF2-40B4-BE49-F238E27FC236}">
                <a16:creationId xmlns:a16="http://schemas.microsoft.com/office/drawing/2014/main" id="{23A49814-2803-C58F-5EB2-6081261CD103}"/>
              </a:ext>
            </a:extLst>
          </p:cNvPr>
          <p:cNvSpPr>
            <a:spLocks noGrp="1"/>
          </p:cNvSpPr>
          <p:nvPr>
            <p:ph idx="1"/>
          </p:nvPr>
        </p:nvSpPr>
        <p:spPr>
          <a:xfrm>
            <a:off x="1931617" y="2191080"/>
            <a:ext cx="4033754" cy="3011262"/>
          </a:xfrm>
        </p:spPr>
        <p:txBody>
          <a:bodyPr>
            <a:normAutofit/>
          </a:bodyPr>
          <a:lstStyle/>
          <a:p>
            <a:pPr marL="0" indent="0">
              <a:buNone/>
            </a:pPr>
            <a:r>
              <a:rPr lang="en-US" sz="2400" dirty="0"/>
              <a:t>SIEMs are great at detecting </a:t>
            </a:r>
            <a:r>
              <a:rPr lang="en-US" sz="2400" i="1" dirty="0"/>
              <a:t>known</a:t>
            </a:r>
            <a:r>
              <a:rPr lang="en-US" sz="2400" dirty="0"/>
              <a:t> threats using rules. Threat hunting is a proactive, human-led search for </a:t>
            </a:r>
            <a:r>
              <a:rPr lang="en-US" sz="2400" i="1" dirty="0"/>
              <a:t>unknown</a:t>
            </a:r>
            <a:r>
              <a:rPr lang="en-US" sz="2400" dirty="0"/>
              <a:t> threats, finding the anomalies that rules might miss. </a:t>
            </a:r>
            <a:r>
              <a:rPr lang="en-US" sz="2400" dirty="0" err="1"/>
              <a:t>Wazuh</a:t>
            </a:r>
            <a:r>
              <a:rPr lang="en-US" sz="2400" dirty="0"/>
              <a:t> provides powerful tools for this .</a:t>
            </a:r>
          </a:p>
        </p:txBody>
      </p:sp>
      <p:pic>
        <p:nvPicPr>
          <p:cNvPr id="11" name="Picture 10">
            <a:extLst>
              <a:ext uri="{FF2B5EF4-FFF2-40B4-BE49-F238E27FC236}">
                <a16:creationId xmlns:a16="http://schemas.microsoft.com/office/drawing/2014/main" id="{64D9C8B6-430B-F001-1069-AB1F59E37F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113792">
            <a:off x="415467" y="682171"/>
            <a:ext cx="742004" cy="742004"/>
          </a:xfrm>
          <a:prstGeom prst="rect">
            <a:avLst/>
          </a:prstGeom>
        </p:spPr>
      </p:pic>
      <p:pic>
        <p:nvPicPr>
          <p:cNvPr id="17" name="Picture 16">
            <a:extLst>
              <a:ext uri="{FF2B5EF4-FFF2-40B4-BE49-F238E27FC236}">
                <a16:creationId xmlns:a16="http://schemas.microsoft.com/office/drawing/2014/main" id="{FFE75727-E2DF-5753-0B99-751A1D22E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5058">
            <a:off x="5704939" y="5187643"/>
            <a:ext cx="782122" cy="782122"/>
          </a:xfrm>
          <a:prstGeom prst="rect">
            <a:avLst/>
          </a:prstGeom>
        </p:spPr>
      </p:pic>
    </p:spTree>
    <p:extLst>
      <p:ext uri="{BB962C8B-B14F-4D97-AF65-F5344CB8AC3E}">
        <p14:creationId xmlns:p14="http://schemas.microsoft.com/office/powerpoint/2010/main" val="1153616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94D02381-EBCB-A928-21F6-D0AB91D0E6B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A84A624-5201-A1CA-60B1-08E18E171FC5}"/>
              </a:ext>
            </a:extLst>
          </p:cNvPr>
          <p:cNvSpPr/>
          <p:nvPr/>
        </p:nvSpPr>
        <p:spPr>
          <a:xfrm>
            <a:off x="4379089" y="-518692"/>
            <a:ext cx="7812911" cy="7812911"/>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46B1696-D629-D6B3-EFE6-9FC79A02F678}"/>
              </a:ext>
            </a:extLst>
          </p:cNvPr>
          <p:cNvSpPr/>
          <p:nvPr/>
        </p:nvSpPr>
        <p:spPr>
          <a:xfrm>
            <a:off x="2768280" y="-508383"/>
            <a:ext cx="7812911" cy="7812911"/>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DD1DFB4-F33A-2AF8-9E62-92356A449DCC}"/>
              </a:ext>
            </a:extLst>
          </p:cNvPr>
          <p:cNvSpPr/>
          <p:nvPr/>
        </p:nvSpPr>
        <p:spPr>
          <a:xfrm>
            <a:off x="-7812911" y="-477456"/>
            <a:ext cx="7812911" cy="7812911"/>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4123396-A64E-F8E5-20AA-D0799038358E}"/>
              </a:ext>
            </a:extLst>
          </p:cNvPr>
          <p:cNvSpPr/>
          <p:nvPr/>
        </p:nvSpPr>
        <p:spPr>
          <a:xfrm>
            <a:off x="-7812911" y="-477456"/>
            <a:ext cx="7812911" cy="781291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EFCC3E3-7784-2F61-B349-51DE8D13CE26}"/>
              </a:ext>
            </a:extLst>
          </p:cNvPr>
          <p:cNvSpPr/>
          <p:nvPr/>
        </p:nvSpPr>
        <p:spPr>
          <a:xfrm>
            <a:off x="-7812911" y="-477456"/>
            <a:ext cx="7812911" cy="781291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0B7270C-ED68-0BD5-5219-8AA57E938D9E}"/>
              </a:ext>
            </a:extLst>
          </p:cNvPr>
          <p:cNvSpPr txBox="1"/>
          <p:nvPr/>
        </p:nvSpPr>
        <p:spPr>
          <a:xfrm>
            <a:off x="-3906455" y="2839142"/>
            <a:ext cx="3663389" cy="1200329"/>
          </a:xfrm>
          <a:prstGeom prst="rect">
            <a:avLst/>
          </a:prstGeom>
          <a:noFill/>
        </p:spPr>
        <p:txBody>
          <a:bodyPr wrap="square" rtlCol="0">
            <a:spAutoFit/>
          </a:bodyPr>
          <a:lstStyle/>
          <a:p>
            <a:r>
              <a:rPr lang="en-US" sz="7200" dirty="0">
                <a:solidFill>
                  <a:srgbClr val="002060"/>
                </a:solidFill>
                <a:latin typeface="Impact" panose="020B0806030902050204" pitchFamily="34" charset="0"/>
              </a:rPr>
              <a:t>Modules</a:t>
            </a:r>
            <a:endParaRPr lang="en-US" sz="4800" dirty="0">
              <a:solidFill>
                <a:srgbClr val="002060"/>
              </a:solidFill>
              <a:latin typeface="Impact" panose="020B0806030902050204" pitchFamily="34" charset="0"/>
            </a:endParaRPr>
          </a:p>
        </p:txBody>
      </p:sp>
      <p:sp>
        <p:nvSpPr>
          <p:cNvPr id="12" name="TextBox 11">
            <a:extLst>
              <a:ext uri="{FF2B5EF4-FFF2-40B4-BE49-F238E27FC236}">
                <a16:creationId xmlns:a16="http://schemas.microsoft.com/office/drawing/2014/main" id="{50768BE4-2506-09B2-4899-EB496F7F7BC6}"/>
              </a:ext>
            </a:extLst>
          </p:cNvPr>
          <p:cNvSpPr txBox="1"/>
          <p:nvPr/>
        </p:nvSpPr>
        <p:spPr>
          <a:xfrm>
            <a:off x="-1048471" y="2839144"/>
            <a:ext cx="776466" cy="1200329"/>
          </a:xfrm>
          <a:prstGeom prst="rect">
            <a:avLst/>
          </a:prstGeom>
          <a:noFill/>
        </p:spPr>
        <p:txBody>
          <a:bodyPr wrap="square" rtlCol="0">
            <a:spAutoFit/>
          </a:bodyPr>
          <a:lstStyle/>
          <a:p>
            <a:r>
              <a:rPr lang="en-US" sz="7200" dirty="0">
                <a:solidFill>
                  <a:schemeClr val="accent5">
                    <a:lumMod val="50000"/>
                  </a:schemeClr>
                </a:solidFill>
                <a:latin typeface="Impact" panose="020B0806030902050204" pitchFamily="34" charset="0"/>
              </a:rPr>
              <a:t>1</a:t>
            </a:r>
            <a:endParaRPr lang="en-US" sz="8000" dirty="0">
              <a:solidFill>
                <a:schemeClr val="accent5">
                  <a:lumMod val="50000"/>
                </a:schemeClr>
              </a:solidFill>
              <a:latin typeface="Impact" panose="020B0806030902050204" pitchFamily="34" charset="0"/>
            </a:endParaRPr>
          </a:p>
        </p:txBody>
      </p:sp>
      <p:sp>
        <p:nvSpPr>
          <p:cNvPr id="13" name="TextBox 12">
            <a:extLst>
              <a:ext uri="{FF2B5EF4-FFF2-40B4-BE49-F238E27FC236}">
                <a16:creationId xmlns:a16="http://schemas.microsoft.com/office/drawing/2014/main" id="{78BC54B9-2E4E-7C19-5EF6-06AAA584D53C}"/>
              </a:ext>
            </a:extLst>
          </p:cNvPr>
          <p:cNvSpPr txBox="1"/>
          <p:nvPr/>
        </p:nvSpPr>
        <p:spPr>
          <a:xfrm>
            <a:off x="-1043166" y="2797907"/>
            <a:ext cx="776466" cy="1200329"/>
          </a:xfrm>
          <a:prstGeom prst="rect">
            <a:avLst/>
          </a:prstGeom>
          <a:noFill/>
        </p:spPr>
        <p:txBody>
          <a:bodyPr wrap="square" rtlCol="0">
            <a:spAutoFit/>
          </a:bodyPr>
          <a:lstStyle/>
          <a:p>
            <a:r>
              <a:rPr lang="en-US" sz="7200" dirty="0">
                <a:solidFill>
                  <a:schemeClr val="accent5">
                    <a:lumMod val="75000"/>
                  </a:schemeClr>
                </a:solidFill>
                <a:latin typeface="Impact" panose="020B0806030902050204" pitchFamily="34" charset="0"/>
              </a:rPr>
              <a:t>2</a:t>
            </a:r>
            <a:endParaRPr lang="en-US" sz="8000" dirty="0">
              <a:solidFill>
                <a:schemeClr val="accent5">
                  <a:lumMod val="75000"/>
                </a:schemeClr>
              </a:solidFill>
              <a:latin typeface="Impact" panose="020B0806030902050204" pitchFamily="34" charset="0"/>
            </a:endParaRPr>
          </a:p>
        </p:txBody>
      </p:sp>
      <p:sp>
        <p:nvSpPr>
          <p:cNvPr id="14" name="TextBox 13">
            <a:extLst>
              <a:ext uri="{FF2B5EF4-FFF2-40B4-BE49-F238E27FC236}">
                <a16:creationId xmlns:a16="http://schemas.microsoft.com/office/drawing/2014/main" id="{A4EEE5ED-A73B-BDE6-1980-2E32A002A3BC}"/>
              </a:ext>
            </a:extLst>
          </p:cNvPr>
          <p:cNvSpPr txBox="1"/>
          <p:nvPr/>
        </p:nvSpPr>
        <p:spPr>
          <a:xfrm>
            <a:off x="9658592" y="2777288"/>
            <a:ext cx="776466" cy="1200329"/>
          </a:xfrm>
          <a:prstGeom prst="rect">
            <a:avLst/>
          </a:prstGeom>
          <a:noFill/>
        </p:spPr>
        <p:txBody>
          <a:bodyPr wrap="square" rtlCol="0">
            <a:spAutoFit/>
          </a:bodyPr>
          <a:lstStyle/>
          <a:p>
            <a:r>
              <a:rPr lang="en-US" sz="7200" dirty="0">
                <a:solidFill>
                  <a:schemeClr val="accent5">
                    <a:lumMod val="60000"/>
                    <a:lumOff val="40000"/>
                  </a:schemeClr>
                </a:solidFill>
                <a:latin typeface="Impact" panose="020B0806030902050204" pitchFamily="34" charset="0"/>
              </a:rPr>
              <a:t>3</a:t>
            </a:r>
            <a:endParaRPr lang="en-US" sz="8000" dirty="0">
              <a:solidFill>
                <a:schemeClr val="accent5">
                  <a:lumMod val="60000"/>
                  <a:lumOff val="40000"/>
                </a:schemeClr>
              </a:solidFill>
              <a:latin typeface="Impact" panose="020B0806030902050204" pitchFamily="34" charset="0"/>
            </a:endParaRPr>
          </a:p>
        </p:txBody>
      </p:sp>
      <p:sp>
        <p:nvSpPr>
          <p:cNvPr id="15" name="TextBox 14">
            <a:extLst>
              <a:ext uri="{FF2B5EF4-FFF2-40B4-BE49-F238E27FC236}">
                <a16:creationId xmlns:a16="http://schemas.microsoft.com/office/drawing/2014/main" id="{BB96724B-04E3-1B4B-4294-C1346EFA6349}"/>
              </a:ext>
            </a:extLst>
          </p:cNvPr>
          <p:cNvSpPr txBox="1"/>
          <p:nvPr/>
        </p:nvSpPr>
        <p:spPr>
          <a:xfrm>
            <a:off x="11147870" y="2777288"/>
            <a:ext cx="776466" cy="1200329"/>
          </a:xfrm>
          <a:prstGeom prst="rect">
            <a:avLst/>
          </a:prstGeom>
          <a:noFill/>
        </p:spPr>
        <p:txBody>
          <a:bodyPr wrap="square" rtlCol="0">
            <a:spAutoFit/>
          </a:bodyPr>
          <a:lstStyle/>
          <a:p>
            <a:r>
              <a:rPr lang="en-US" sz="7200" dirty="0">
                <a:solidFill>
                  <a:schemeClr val="accent5">
                    <a:lumMod val="40000"/>
                    <a:lumOff val="60000"/>
                  </a:schemeClr>
                </a:solidFill>
                <a:latin typeface="Impact" panose="020B0806030902050204" pitchFamily="34" charset="0"/>
              </a:rPr>
              <a:t>4</a:t>
            </a:r>
            <a:endParaRPr lang="en-US" sz="8000" dirty="0">
              <a:solidFill>
                <a:schemeClr val="accent5">
                  <a:lumMod val="40000"/>
                  <a:lumOff val="60000"/>
                </a:schemeClr>
              </a:solidFill>
              <a:latin typeface="Impact" panose="020B0806030902050204" pitchFamily="34" charset="0"/>
            </a:endParaRPr>
          </a:p>
        </p:txBody>
      </p:sp>
      <p:sp>
        <p:nvSpPr>
          <p:cNvPr id="2" name="Title 1">
            <a:extLst>
              <a:ext uri="{FF2B5EF4-FFF2-40B4-BE49-F238E27FC236}">
                <a16:creationId xmlns:a16="http://schemas.microsoft.com/office/drawing/2014/main" id="{613A873D-B168-6A95-C825-31725FDF5D99}"/>
              </a:ext>
            </a:extLst>
          </p:cNvPr>
          <p:cNvSpPr>
            <a:spLocks noGrp="1"/>
          </p:cNvSpPr>
          <p:nvPr>
            <p:ph type="title"/>
          </p:nvPr>
        </p:nvSpPr>
        <p:spPr>
          <a:xfrm>
            <a:off x="2768280" y="500062"/>
            <a:ext cx="3588977" cy="1325563"/>
          </a:xfrm>
        </p:spPr>
        <p:txBody>
          <a:bodyPr/>
          <a:lstStyle/>
          <a:p>
            <a:r>
              <a:rPr lang="en-US" b="1" dirty="0">
                <a:solidFill>
                  <a:schemeClr val="accent5">
                    <a:lumMod val="60000"/>
                    <a:lumOff val="40000"/>
                  </a:schemeClr>
                </a:solidFill>
                <a:latin typeface="Equinox Bold" panose="02000500000000000000" pitchFamily="2" charset="0"/>
              </a:rPr>
              <a:t>Malware Detection</a:t>
            </a:r>
            <a:endParaRPr lang="en-US" dirty="0">
              <a:solidFill>
                <a:schemeClr val="accent5">
                  <a:lumMod val="60000"/>
                  <a:lumOff val="40000"/>
                </a:schemeClr>
              </a:solidFill>
              <a:latin typeface="Equinox Bold" panose="02000500000000000000" pitchFamily="2" charset="0"/>
            </a:endParaRPr>
          </a:p>
        </p:txBody>
      </p:sp>
      <p:sp>
        <p:nvSpPr>
          <p:cNvPr id="3" name="Content Placeholder 2">
            <a:extLst>
              <a:ext uri="{FF2B5EF4-FFF2-40B4-BE49-F238E27FC236}">
                <a16:creationId xmlns:a16="http://schemas.microsoft.com/office/drawing/2014/main" id="{7566F4B4-CA6D-7D23-994B-90A655FCF014}"/>
              </a:ext>
            </a:extLst>
          </p:cNvPr>
          <p:cNvSpPr>
            <a:spLocks noGrp="1"/>
          </p:cNvSpPr>
          <p:nvPr>
            <p:ph idx="1"/>
          </p:nvPr>
        </p:nvSpPr>
        <p:spPr>
          <a:xfrm>
            <a:off x="2768280" y="2219801"/>
            <a:ext cx="4166930" cy="3515632"/>
          </a:xfrm>
        </p:spPr>
        <p:txBody>
          <a:bodyPr>
            <a:normAutofit lnSpcReduction="10000"/>
          </a:bodyPr>
          <a:lstStyle/>
          <a:p>
            <a:pPr marL="0" indent="0">
              <a:buNone/>
            </a:pPr>
            <a:r>
              <a:rPr lang="en-US" sz="2400" dirty="0">
                <a:solidFill>
                  <a:schemeClr val="bg1"/>
                </a:solidFill>
              </a:rPr>
              <a:t>Traditional antivirus looks for known signatures. If a piece of malware is new or modified, it often slips through. </a:t>
            </a:r>
            <a:r>
              <a:rPr lang="en-US" sz="2400" dirty="0" err="1">
                <a:solidFill>
                  <a:schemeClr val="bg1"/>
                </a:solidFill>
              </a:rPr>
              <a:t>Wazuh</a:t>
            </a:r>
            <a:r>
              <a:rPr lang="en-US" sz="2400" dirty="0">
                <a:solidFill>
                  <a:schemeClr val="bg1"/>
                </a:solidFill>
              </a:rPr>
              <a:t> takes a multi-layered approach to malware detection, combining file integrity monitoring, behavioral analysis, and threat intelligence enrichment to catch what traditional AV misses.</a:t>
            </a:r>
          </a:p>
        </p:txBody>
      </p:sp>
      <p:pic>
        <p:nvPicPr>
          <p:cNvPr id="17" name="Picture 16">
            <a:extLst>
              <a:ext uri="{FF2B5EF4-FFF2-40B4-BE49-F238E27FC236}">
                <a16:creationId xmlns:a16="http://schemas.microsoft.com/office/drawing/2014/main" id="{70E0DC20-27A9-1128-F9C2-E124E04A4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955217">
            <a:off x="888628" y="5304637"/>
            <a:ext cx="861591" cy="861591"/>
          </a:xfrm>
          <a:prstGeom prst="rect">
            <a:avLst/>
          </a:prstGeom>
        </p:spPr>
      </p:pic>
      <p:pic>
        <p:nvPicPr>
          <p:cNvPr id="21" name="Picture 20">
            <a:extLst>
              <a:ext uri="{FF2B5EF4-FFF2-40B4-BE49-F238E27FC236}">
                <a16:creationId xmlns:a16="http://schemas.microsoft.com/office/drawing/2014/main" id="{95326E2D-7E61-4B80-E7CF-EB92C2A4F5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607336">
            <a:off x="7388121" y="671597"/>
            <a:ext cx="1068453" cy="1068453"/>
          </a:xfrm>
          <a:prstGeom prst="rect">
            <a:avLst/>
          </a:prstGeom>
        </p:spPr>
      </p:pic>
      <p:pic>
        <p:nvPicPr>
          <p:cNvPr id="23" name="Picture 22">
            <a:extLst>
              <a:ext uri="{FF2B5EF4-FFF2-40B4-BE49-F238E27FC236}">
                <a16:creationId xmlns:a16="http://schemas.microsoft.com/office/drawing/2014/main" id="{C8602006-9D2F-D33D-D42D-52829FF14B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414753">
            <a:off x="512520" y="649099"/>
            <a:ext cx="1148612" cy="1148612"/>
          </a:xfrm>
          <a:prstGeom prst="rect">
            <a:avLst/>
          </a:prstGeom>
        </p:spPr>
      </p:pic>
    </p:spTree>
    <p:extLst>
      <p:ext uri="{BB962C8B-B14F-4D97-AF65-F5344CB8AC3E}">
        <p14:creationId xmlns:p14="http://schemas.microsoft.com/office/powerpoint/2010/main" val="773398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a:extLst>
            <a:ext uri="{FF2B5EF4-FFF2-40B4-BE49-F238E27FC236}">
              <a16:creationId xmlns:a16="http://schemas.microsoft.com/office/drawing/2014/main" id="{5ACD1A0C-9497-2538-DE9E-00FA2D7E082B}"/>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2C89220-170F-3E78-CBA7-61DE05DCAF73}"/>
              </a:ext>
            </a:extLst>
          </p:cNvPr>
          <p:cNvSpPr/>
          <p:nvPr/>
        </p:nvSpPr>
        <p:spPr>
          <a:xfrm>
            <a:off x="4379089" y="-518692"/>
            <a:ext cx="7812911" cy="7812911"/>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5222902-0470-44C3-3008-1E343EA9CE55}"/>
              </a:ext>
            </a:extLst>
          </p:cNvPr>
          <p:cNvSpPr/>
          <p:nvPr/>
        </p:nvSpPr>
        <p:spPr>
          <a:xfrm>
            <a:off x="-7812911" y="-477456"/>
            <a:ext cx="7812911" cy="7812911"/>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54F083D-76A1-370F-A7F0-30A49C4FD83E}"/>
              </a:ext>
            </a:extLst>
          </p:cNvPr>
          <p:cNvSpPr/>
          <p:nvPr/>
        </p:nvSpPr>
        <p:spPr>
          <a:xfrm>
            <a:off x="-7812911" y="-477456"/>
            <a:ext cx="7812911" cy="7812911"/>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BA98A84-27FF-DA2E-FC87-948866747F64}"/>
              </a:ext>
            </a:extLst>
          </p:cNvPr>
          <p:cNvSpPr/>
          <p:nvPr/>
        </p:nvSpPr>
        <p:spPr>
          <a:xfrm>
            <a:off x="-7812911" y="-477456"/>
            <a:ext cx="7812911" cy="781291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F74619-3B22-7AE0-85D3-649130011FB5}"/>
              </a:ext>
            </a:extLst>
          </p:cNvPr>
          <p:cNvSpPr/>
          <p:nvPr/>
        </p:nvSpPr>
        <p:spPr>
          <a:xfrm>
            <a:off x="-7812911" y="-477456"/>
            <a:ext cx="7812911" cy="7812911"/>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6349E10-944E-9FF4-EE17-221CADF2436D}"/>
              </a:ext>
            </a:extLst>
          </p:cNvPr>
          <p:cNvSpPr txBox="1"/>
          <p:nvPr/>
        </p:nvSpPr>
        <p:spPr>
          <a:xfrm>
            <a:off x="-3906455" y="2839142"/>
            <a:ext cx="3663389" cy="1200329"/>
          </a:xfrm>
          <a:prstGeom prst="rect">
            <a:avLst/>
          </a:prstGeom>
          <a:noFill/>
        </p:spPr>
        <p:txBody>
          <a:bodyPr wrap="square" rtlCol="0">
            <a:spAutoFit/>
          </a:bodyPr>
          <a:lstStyle/>
          <a:p>
            <a:r>
              <a:rPr lang="en-US" sz="7200" dirty="0">
                <a:solidFill>
                  <a:srgbClr val="002060"/>
                </a:solidFill>
                <a:latin typeface="Impact" panose="020B0806030902050204" pitchFamily="34" charset="0"/>
              </a:rPr>
              <a:t>Modules</a:t>
            </a:r>
            <a:endParaRPr lang="en-US" sz="4800" dirty="0">
              <a:solidFill>
                <a:srgbClr val="002060"/>
              </a:solidFill>
              <a:latin typeface="Impact" panose="020B0806030902050204" pitchFamily="34" charset="0"/>
            </a:endParaRPr>
          </a:p>
        </p:txBody>
      </p:sp>
      <p:sp>
        <p:nvSpPr>
          <p:cNvPr id="12" name="TextBox 11">
            <a:extLst>
              <a:ext uri="{FF2B5EF4-FFF2-40B4-BE49-F238E27FC236}">
                <a16:creationId xmlns:a16="http://schemas.microsoft.com/office/drawing/2014/main" id="{3A10658F-0C72-B74E-0AF4-8884F38F37B3}"/>
              </a:ext>
            </a:extLst>
          </p:cNvPr>
          <p:cNvSpPr txBox="1"/>
          <p:nvPr/>
        </p:nvSpPr>
        <p:spPr>
          <a:xfrm>
            <a:off x="-1048471" y="2839144"/>
            <a:ext cx="776466" cy="1200329"/>
          </a:xfrm>
          <a:prstGeom prst="rect">
            <a:avLst/>
          </a:prstGeom>
          <a:noFill/>
        </p:spPr>
        <p:txBody>
          <a:bodyPr wrap="square" rtlCol="0">
            <a:spAutoFit/>
          </a:bodyPr>
          <a:lstStyle/>
          <a:p>
            <a:r>
              <a:rPr lang="en-US" sz="7200" dirty="0">
                <a:solidFill>
                  <a:schemeClr val="accent5">
                    <a:lumMod val="50000"/>
                  </a:schemeClr>
                </a:solidFill>
                <a:latin typeface="Impact" panose="020B0806030902050204" pitchFamily="34" charset="0"/>
              </a:rPr>
              <a:t>1</a:t>
            </a:r>
            <a:endParaRPr lang="en-US" sz="8000" dirty="0">
              <a:solidFill>
                <a:schemeClr val="accent5">
                  <a:lumMod val="50000"/>
                </a:schemeClr>
              </a:solidFill>
              <a:latin typeface="Impact" panose="020B0806030902050204" pitchFamily="34" charset="0"/>
            </a:endParaRPr>
          </a:p>
        </p:txBody>
      </p:sp>
      <p:sp>
        <p:nvSpPr>
          <p:cNvPr id="13" name="TextBox 12">
            <a:extLst>
              <a:ext uri="{FF2B5EF4-FFF2-40B4-BE49-F238E27FC236}">
                <a16:creationId xmlns:a16="http://schemas.microsoft.com/office/drawing/2014/main" id="{7165E668-3D47-783B-8ABC-AFE926733E19}"/>
              </a:ext>
            </a:extLst>
          </p:cNvPr>
          <p:cNvSpPr txBox="1"/>
          <p:nvPr/>
        </p:nvSpPr>
        <p:spPr>
          <a:xfrm>
            <a:off x="-1043166" y="2797907"/>
            <a:ext cx="776466" cy="1200329"/>
          </a:xfrm>
          <a:prstGeom prst="rect">
            <a:avLst/>
          </a:prstGeom>
          <a:noFill/>
        </p:spPr>
        <p:txBody>
          <a:bodyPr wrap="square" rtlCol="0">
            <a:spAutoFit/>
          </a:bodyPr>
          <a:lstStyle/>
          <a:p>
            <a:r>
              <a:rPr lang="en-US" sz="7200" dirty="0">
                <a:solidFill>
                  <a:schemeClr val="accent5">
                    <a:lumMod val="75000"/>
                  </a:schemeClr>
                </a:solidFill>
                <a:latin typeface="Impact" panose="020B0806030902050204" pitchFamily="34" charset="0"/>
              </a:rPr>
              <a:t>2</a:t>
            </a:r>
            <a:endParaRPr lang="en-US" sz="8000" dirty="0">
              <a:solidFill>
                <a:schemeClr val="accent5">
                  <a:lumMod val="75000"/>
                </a:schemeClr>
              </a:solidFill>
              <a:latin typeface="Impact" panose="020B0806030902050204" pitchFamily="34" charset="0"/>
            </a:endParaRPr>
          </a:p>
        </p:txBody>
      </p:sp>
      <p:sp>
        <p:nvSpPr>
          <p:cNvPr id="14" name="TextBox 13">
            <a:extLst>
              <a:ext uri="{FF2B5EF4-FFF2-40B4-BE49-F238E27FC236}">
                <a16:creationId xmlns:a16="http://schemas.microsoft.com/office/drawing/2014/main" id="{3C470537-34F9-8251-8E69-BC18FCF1A56F}"/>
              </a:ext>
            </a:extLst>
          </p:cNvPr>
          <p:cNvSpPr txBox="1"/>
          <p:nvPr/>
        </p:nvSpPr>
        <p:spPr>
          <a:xfrm>
            <a:off x="-922599" y="2808215"/>
            <a:ext cx="776466" cy="1200329"/>
          </a:xfrm>
          <a:prstGeom prst="rect">
            <a:avLst/>
          </a:prstGeom>
          <a:noFill/>
        </p:spPr>
        <p:txBody>
          <a:bodyPr wrap="square" rtlCol="0">
            <a:spAutoFit/>
          </a:bodyPr>
          <a:lstStyle/>
          <a:p>
            <a:r>
              <a:rPr lang="en-US" sz="7200" dirty="0">
                <a:solidFill>
                  <a:schemeClr val="accent5">
                    <a:lumMod val="60000"/>
                    <a:lumOff val="40000"/>
                  </a:schemeClr>
                </a:solidFill>
                <a:latin typeface="Impact" panose="020B0806030902050204" pitchFamily="34" charset="0"/>
              </a:rPr>
              <a:t>3</a:t>
            </a:r>
            <a:endParaRPr lang="en-US" sz="8000" dirty="0">
              <a:solidFill>
                <a:schemeClr val="accent5">
                  <a:lumMod val="60000"/>
                  <a:lumOff val="40000"/>
                </a:schemeClr>
              </a:solidFill>
              <a:latin typeface="Impact" panose="020B0806030902050204" pitchFamily="34" charset="0"/>
            </a:endParaRPr>
          </a:p>
        </p:txBody>
      </p:sp>
      <p:sp>
        <p:nvSpPr>
          <p:cNvPr id="15" name="TextBox 14">
            <a:extLst>
              <a:ext uri="{FF2B5EF4-FFF2-40B4-BE49-F238E27FC236}">
                <a16:creationId xmlns:a16="http://schemas.microsoft.com/office/drawing/2014/main" id="{65D4BFFF-74B8-E564-D146-208D89648B50}"/>
              </a:ext>
            </a:extLst>
          </p:cNvPr>
          <p:cNvSpPr txBox="1"/>
          <p:nvPr/>
        </p:nvSpPr>
        <p:spPr>
          <a:xfrm>
            <a:off x="11147870" y="2777288"/>
            <a:ext cx="776466" cy="1200329"/>
          </a:xfrm>
          <a:prstGeom prst="rect">
            <a:avLst/>
          </a:prstGeom>
          <a:noFill/>
        </p:spPr>
        <p:txBody>
          <a:bodyPr wrap="square" rtlCol="0">
            <a:spAutoFit/>
          </a:bodyPr>
          <a:lstStyle/>
          <a:p>
            <a:r>
              <a:rPr lang="en-US" sz="7200" dirty="0">
                <a:solidFill>
                  <a:schemeClr val="accent5">
                    <a:lumMod val="40000"/>
                    <a:lumOff val="60000"/>
                  </a:schemeClr>
                </a:solidFill>
                <a:latin typeface="Impact" panose="020B0806030902050204" pitchFamily="34" charset="0"/>
              </a:rPr>
              <a:t>4</a:t>
            </a:r>
            <a:endParaRPr lang="en-US" sz="8000" dirty="0">
              <a:solidFill>
                <a:schemeClr val="accent5">
                  <a:lumMod val="40000"/>
                  <a:lumOff val="60000"/>
                </a:schemeClr>
              </a:solidFill>
              <a:latin typeface="Impact" panose="020B0806030902050204" pitchFamily="34" charset="0"/>
            </a:endParaRPr>
          </a:p>
        </p:txBody>
      </p:sp>
      <p:sp>
        <p:nvSpPr>
          <p:cNvPr id="2" name="Title 1">
            <a:extLst>
              <a:ext uri="{FF2B5EF4-FFF2-40B4-BE49-F238E27FC236}">
                <a16:creationId xmlns:a16="http://schemas.microsoft.com/office/drawing/2014/main" id="{E53CA49B-8E0C-3821-71E4-DAE1FD93C8F6}"/>
              </a:ext>
            </a:extLst>
          </p:cNvPr>
          <p:cNvSpPr>
            <a:spLocks noGrp="1"/>
          </p:cNvSpPr>
          <p:nvPr>
            <p:ph type="title"/>
          </p:nvPr>
        </p:nvSpPr>
        <p:spPr>
          <a:xfrm>
            <a:off x="2320472" y="539614"/>
            <a:ext cx="4530272" cy="1325563"/>
          </a:xfrm>
        </p:spPr>
        <p:txBody>
          <a:bodyPr/>
          <a:lstStyle/>
          <a:p>
            <a:r>
              <a:rPr lang="en-US" b="1" dirty="0">
                <a:solidFill>
                  <a:schemeClr val="accent5">
                    <a:lumMod val="20000"/>
                    <a:lumOff val="80000"/>
                  </a:schemeClr>
                </a:solidFill>
                <a:latin typeface="Equinox Bold" panose="02000500000000000000" pitchFamily="2" charset="0"/>
              </a:rPr>
              <a:t>Vulnerability Assessment</a:t>
            </a:r>
            <a:endParaRPr lang="en-US" dirty="0">
              <a:solidFill>
                <a:schemeClr val="accent5">
                  <a:lumMod val="20000"/>
                  <a:lumOff val="80000"/>
                </a:schemeClr>
              </a:solidFill>
              <a:latin typeface="Equinox Bold" panose="02000500000000000000" pitchFamily="2" charset="0"/>
            </a:endParaRPr>
          </a:p>
        </p:txBody>
      </p:sp>
      <p:sp>
        <p:nvSpPr>
          <p:cNvPr id="3" name="Content Placeholder 2">
            <a:extLst>
              <a:ext uri="{FF2B5EF4-FFF2-40B4-BE49-F238E27FC236}">
                <a16:creationId xmlns:a16="http://schemas.microsoft.com/office/drawing/2014/main" id="{7CCABB75-6E45-EF14-E58D-149625323FEC}"/>
              </a:ext>
            </a:extLst>
          </p:cNvPr>
          <p:cNvSpPr>
            <a:spLocks noGrp="1"/>
          </p:cNvSpPr>
          <p:nvPr>
            <p:ph idx="1"/>
          </p:nvPr>
        </p:nvSpPr>
        <p:spPr>
          <a:xfrm>
            <a:off x="2320472" y="2299629"/>
            <a:ext cx="4662714" cy="3355975"/>
          </a:xfrm>
        </p:spPr>
        <p:txBody>
          <a:bodyPr>
            <a:normAutofit/>
          </a:bodyPr>
          <a:lstStyle/>
          <a:p>
            <a:pPr marL="0" indent="0">
              <a:buNone/>
            </a:pPr>
            <a:r>
              <a:rPr lang="en-US" sz="2400" dirty="0">
                <a:solidFill>
                  <a:schemeClr val="bg1"/>
                </a:solidFill>
              </a:rPr>
              <a:t>You cannot defend against what you do not know. Vulnerability assessment is the practice of continuously scanning your endpoints for known security weaknesses, outdated software, missing patches, misconfigurations and prioritizing fixes based on risk.</a:t>
            </a:r>
          </a:p>
        </p:txBody>
      </p:sp>
      <p:pic>
        <p:nvPicPr>
          <p:cNvPr id="11" name="Picture 10">
            <a:extLst>
              <a:ext uri="{FF2B5EF4-FFF2-40B4-BE49-F238E27FC236}">
                <a16:creationId xmlns:a16="http://schemas.microsoft.com/office/drawing/2014/main" id="{BE0AAC47-0F60-8D97-F79B-9A330F09B5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282729">
            <a:off x="525315" y="595336"/>
            <a:ext cx="1269841" cy="1269841"/>
          </a:xfrm>
          <a:prstGeom prst="rect">
            <a:avLst/>
          </a:prstGeom>
        </p:spPr>
      </p:pic>
      <p:pic>
        <p:nvPicPr>
          <p:cNvPr id="19" name="Picture 18">
            <a:extLst>
              <a:ext uri="{FF2B5EF4-FFF2-40B4-BE49-F238E27FC236}">
                <a16:creationId xmlns:a16="http://schemas.microsoft.com/office/drawing/2014/main" id="{F71899C3-EFE3-043A-094C-144A69EA2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58027">
            <a:off x="8185309" y="1507447"/>
            <a:ext cx="1269841" cy="1269841"/>
          </a:xfrm>
          <a:prstGeom prst="rect">
            <a:avLst/>
          </a:prstGeom>
        </p:spPr>
      </p:pic>
      <p:pic>
        <p:nvPicPr>
          <p:cNvPr id="21" name="Picture 20">
            <a:extLst>
              <a:ext uri="{FF2B5EF4-FFF2-40B4-BE49-F238E27FC236}">
                <a16:creationId xmlns:a16="http://schemas.microsoft.com/office/drawing/2014/main" id="{C067CED9-0A5B-8127-A90B-9FD04CC520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397760">
            <a:off x="6406358" y="5680963"/>
            <a:ext cx="888774" cy="888774"/>
          </a:xfrm>
          <a:prstGeom prst="rect">
            <a:avLst/>
          </a:prstGeom>
        </p:spPr>
      </p:pic>
    </p:spTree>
    <p:extLst>
      <p:ext uri="{BB962C8B-B14F-4D97-AF65-F5344CB8AC3E}">
        <p14:creationId xmlns:p14="http://schemas.microsoft.com/office/powerpoint/2010/main" val="160947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73F350-60E2-B8FE-56E1-CDD5E2254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382993">
            <a:off x="5975411" y="3308410"/>
            <a:ext cx="241178" cy="241178"/>
          </a:xfrm>
          <a:prstGeom prst="rect">
            <a:avLst/>
          </a:prstGeom>
        </p:spPr>
      </p:pic>
      <p:sp>
        <p:nvSpPr>
          <p:cNvPr id="4" name="Title 3">
            <a:extLst>
              <a:ext uri="{FF2B5EF4-FFF2-40B4-BE49-F238E27FC236}">
                <a16:creationId xmlns:a16="http://schemas.microsoft.com/office/drawing/2014/main" id="{5EEBB6EE-3788-2238-AB40-278B1E3761FB}"/>
              </a:ext>
            </a:extLst>
          </p:cNvPr>
          <p:cNvSpPr>
            <a:spLocks noGrp="1"/>
          </p:cNvSpPr>
          <p:nvPr>
            <p:ph type="ctrTitle"/>
          </p:nvPr>
        </p:nvSpPr>
        <p:spPr>
          <a:xfrm>
            <a:off x="1524000" y="1041399"/>
            <a:ext cx="9144000" cy="2387600"/>
          </a:xfrm>
        </p:spPr>
        <p:txBody>
          <a:bodyPr>
            <a:normAutofit/>
          </a:bodyPr>
          <a:lstStyle/>
          <a:p>
            <a:r>
              <a:rPr lang="en-US" sz="6600" b="1" dirty="0">
                <a:solidFill>
                  <a:schemeClr val="accent2"/>
                </a:solidFill>
                <a:latin typeface="Deltha" pitchFamily="50" charset="0"/>
              </a:rPr>
              <a:t>SOAR</a:t>
            </a:r>
          </a:p>
        </p:txBody>
      </p:sp>
      <p:sp>
        <p:nvSpPr>
          <p:cNvPr id="5" name="Subtitle 4">
            <a:extLst>
              <a:ext uri="{FF2B5EF4-FFF2-40B4-BE49-F238E27FC236}">
                <a16:creationId xmlns:a16="http://schemas.microsoft.com/office/drawing/2014/main" id="{980417F4-28AA-015B-DF05-D804F893A6C3}"/>
              </a:ext>
            </a:extLst>
          </p:cNvPr>
          <p:cNvSpPr>
            <a:spLocks noGrp="1"/>
          </p:cNvSpPr>
          <p:nvPr>
            <p:ph type="subTitle" idx="1"/>
          </p:nvPr>
        </p:nvSpPr>
        <p:spPr/>
        <p:txBody>
          <a:bodyPr/>
          <a:lstStyle/>
          <a:p>
            <a:r>
              <a:rPr lang="en-US" dirty="0">
                <a:latin typeface="Equinox Bold" panose="02000500000000000000" pitchFamily="2" charset="0"/>
              </a:rPr>
              <a:t>Security Orchestration, Automation, and Response</a:t>
            </a:r>
          </a:p>
          <a:p>
            <a:r>
              <a:rPr lang="en-US" sz="4400" dirty="0">
                <a:solidFill>
                  <a:schemeClr val="accent1"/>
                </a:solidFill>
                <a:latin typeface="Equinox Bold" panose="02000500000000000000" pitchFamily="2" charset="0"/>
              </a:rPr>
              <a:t>L1 SOC automation</a:t>
            </a:r>
          </a:p>
        </p:txBody>
      </p:sp>
      <p:sp>
        <p:nvSpPr>
          <p:cNvPr id="6" name="Rectangle: Rounded Corners 5">
            <a:extLst>
              <a:ext uri="{FF2B5EF4-FFF2-40B4-BE49-F238E27FC236}">
                <a16:creationId xmlns:a16="http://schemas.microsoft.com/office/drawing/2014/main" id="{0415FA46-A710-817F-5ABB-DA330283E4AA}"/>
              </a:ext>
            </a:extLst>
          </p:cNvPr>
          <p:cNvSpPr/>
          <p:nvPr/>
        </p:nvSpPr>
        <p:spPr>
          <a:xfrm>
            <a:off x="5854368" y="3244564"/>
            <a:ext cx="483264" cy="3422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7D64FBE-575E-803B-026E-536B208FD0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057227">
            <a:off x="942595" y="754704"/>
            <a:ext cx="874378" cy="874378"/>
          </a:xfrm>
          <a:prstGeom prst="rect">
            <a:avLst/>
          </a:prstGeom>
        </p:spPr>
      </p:pic>
      <p:pic>
        <p:nvPicPr>
          <p:cNvPr id="12" name="Picture 11">
            <a:extLst>
              <a:ext uri="{FF2B5EF4-FFF2-40B4-BE49-F238E27FC236}">
                <a16:creationId xmlns:a16="http://schemas.microsoft.com/office/drawing/2014/main" id="{64C19ABC-5866-5367-5FF4-A49E19A8A9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33365">
            <a:off x="9640302" y="747131"/>
            <a:ext cx="903630" cy="903630"/>
          </a:xfrm>
          <a:prstGeom prst="rect">
            <a:avLst/>
          </a:prstGeom>
        </p:spPr>
      </p:pic>
      <p:pic>
        <p:nvPicPr>
          <p:cNvPr id="16" name="Picture 15">
            <a:extLst>
              <a:ext uri="{FF2B5EF4-FFF2-40B4-BE49-F238E27FC236}">
                <a16:creationId xmlns:a16="http://schemas.microsoft.com/office/drawing/2014/main" id="{E9A9FD50-2EEA-0BB4-A567-DB7C6C405C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0118" y="1083435"/>
            <a:ext cx="1151764" cy="1151764"/>
          </a:xfrm>
          <a:prstGeom prst="rect">
            <a:avLst/>
          </a:prstGeom>
        </p:spPr>
      </p:pic>
      <p:pic>
        <p:nvPicPr>
          <p:cNvPr id="18" name="Picture 17">
            <a:extLst>
              <a:ext uri="{FF2B5EF4-FFF2-40B4-BE49-F238E27FC236}">
                <a16:creationId xmlns:a16="http://schemas.microsoft.com/office/drawing/2014/main" id="{B3033525-6C08-1619-DE2B-77BB3B684F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0991246">
            <a:off x="1056227" y="4637118"/>
            <a:ext cx="1269841" cy="1269841"/>
          </a:xfrm>
          <a:prstGeom prst="rect">
            <a:avLst/>
          </a:prstGeom>
        </p:spPr>
      </p:pic>
      <p:pic>
        <p:nvPicPr>
          <p:cNvPr id="19" name="Picture 18">
            <a:extLst>
              <a:ext uri="{FF2B5EF4-FFF2-40B4-BE49-F238E27FC236}">
                <a16:creationId xmlns:a16="http://schemas.microsoft.com/office/drawing/2014/main" id="{323E880E-41CA-07E8-A6B6-8B6CD50F28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57196" y="4866659"/>
            <a:ext cx="1128359" cy="1128359"/>
          </a:xfrm>
          <a:prstGeom prst="rect">
            <a:avLst/>
          </a:prstGeom>
        </p:spPr>
      </p:pic>
    </p:spTree>
    <p:extLst>
      <p:ext uri="{BB962C8B-B14F-4D97-AF65-F5344CB8AC3E}">
        <p14:creationId xmlns:p14="http://schemas.microsoft.com/office/powerpoint/2010/main" val="403202334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72000">
              <a:schemeClr val="accent2">
                <a:lumMod val="92000"/>
              </a:schemeClr>
            </a:gs>
            <a:gs pos="6000">
              <a:schemeClr val="bg1"/>
            </a:gs>
            <a:gs pos="10000">
              <a:schemeClr val="bg1"/>
            </a:gs>
          </a:gsLst>
          <a:path path="circle">
            <a:fillToRect l="50000" t="50000" r="50000" b="50000"/>
          </a:path>
          <a:tileRect/>
        </a:gradFill>
        <a:effectLst/>
      </p:bgPr>
    </p:bg>
    <p:spTree>
      <p:nvGrpSpPr>
        <p:cNvPr id="1" name="">
          <a:extLst>
            <a:ext uri="{FF2B5EF4-FFF2-40B4-BE49-F238E27FC236}">
              <a16:creationId xmlns:a16="http://schemas.microsoft.com/office/drawing/2014/main" id="{9BD7B7D1-A86C-6947-756B-FB005A86CA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65755A-6EDB-2B90-815C-18E7669739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5332" y="2898332"/>
            <a:ext cx="1061336" cy="1061336"/>
          </a:xfrm>
          <a:prstGeom prst="rect">
            <a:avLst/>
          </a:prstGeom>
        </p:spPr>
      </p:pic>
    </p:spTree>
    <p:extLst>
      <p:ext uri="{BB962C8B-B14F-4D97-AF65-F5344CB8AC3E}">
        <p14:creationId xmlns:p14="http://schemas.microsoft.com/office/powerpoint/2010/main" val="1247330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BF407-742B-E50E-BFC9-5D9136DE3E73}"/>
              </a:ext>
            </a:extLst>
          </p:cNvPr>
          <p:cNvSpPr>
            <a:spLocks noGrp="1"/>
          </p:cNvSpPr>
          <p:nvPr>
            <p:ph type="title"/>
          </p:nvPr>
        </p:nvSpPr>
        <p:spPr>
          <a:xfrm>
            <a:off x="849570" y="536078"/>
            <a:ext cx="10515600" cy="1325563"/>
          </a:xfrm>
        </p:spPr>
        <p:txBody>
          <a:bodyPr/>
          <a:lstStyle/>
          <a:p>
            <a:pPr algn="ctr"/>
            <a:r>
              <a:rPr lang="en-US" dirty="0">
                <a:solidFill>
                  <a:schemeClr val="tx2"/>
                </a:solidFill>
                <a:latin typeface="Deltha" pitchFamily="50" charset="0"/>
              </a:rPr>
              <a:t>SOAR workflow</a:t>
            </a:r>
          </a:p>
        </p:txBody>
      </p:sp>
      <p:sp>
        <p:nvSpPr>
          <p:cNvPr id="35" name="Freeform: Shape 34">
            <a:extLst>
              <a:ext uri="{FF2B5EF4-FFF2-40B4-BE49-F238E27FC236}">
                <a16:creationId xmlns:a16="http://schemas.microsoft.com/office/drawing/2014/main" id="{C7911D15-7C0E-49C3-ED92-55A7E8C7E2C7}"/>
              </a:ext>
            </a:extLst>
          </p:cNvPr>
          <p:cNvSpPr/>
          <p:nvPr/>
        </p:nvSpPr>
        <p:spPr>
          <a:xfrm>
            <a:off x="4860396" y="2900187"/>
            <a:ext cx="132251" cy="288225"/>
          </a:xfrm>
          <a:custGeom>
            <a:avLst/>
            <a:gdLst>
              <a:gd name="connsiteX0" fmla="*/ -11 w 79281"/>
              <a:gd name="connsiteY0" fmla="*/ -27 h 172783"/>
              <a:gd name="connsiteX1" fmla="*/ 74284 w 79281"/>
              <a:gd name="connsiteY1" fmla="*/ 74268 h 172783"/>
              <a:gd name="connsiteX2" fmla="*/ 74284 w 79281"/>
              <a:gd name="connsiteY2" fmla="*/ 98366 h 172783"/>
              <a:gd name="connsiteX3" fmla="*/ -11 w 79281"/>
              <a:gd name="connsiteY3" fmla="*/ 172756 h 172783"/>
            </a:gdLst>
            <a:ahLst/>
            <a:cxnLst>
              <a:cxn ang="0">
                <a:pos x="connsiteX0" y="connsiteY0"/>
              </a:cxn>
              <a:cxn ang="0">
                <a:pos x="connsiteX1" y="connsiteY1"/>
              </a:cxn>
              <a:cxn ang="0">
                <a:pos x="connsiteX2" y="connsiteY2"/>
              </a:cxn>
              <a:cxn ang="0">
                <a:pos x="connsiteX3" y="connsiteY3"/>
              </a:cxn>
            </a:cxnLst>
            <a:rect l="l" t="t" r="r" b="b"/>
            <a:pathLst>
              <a:path w="79281" h="172783">
                <a:moveTo>
                  <a:pt x="-11" y="-27"/>
                </a:moveTo>
                <a:lnTo>
                  <a:pt x="74284" y="74268"/>
                </a:lnTo>
                <a:cubicBezTo>
                  <a:pt x="80932" y="80925"/>
                  <a:pt x="80932" y="91709"/>
                  <a:pt x="74284" y="98366"/>
                </a:cubicBezTo>
                <a:lnTo>
                  <a:pt x="-11" y="172756"/>
                </a:lnTo>
                <a:close/>
              </a:path>
            </a:pathLst>
          </a:custGeom>
          <a:solidFill>
            <a:schemeClr val="bg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6" name="Freeform: Shape 35">
            <a:extLst>
              <a:ext uri="{FF2B5EF4-FFF2-40B4-BE49-F238E27FC236}">
                <a16:creationId xmlns:a16="http://schemas.microsoft.com/office/drawing/2014/main" id="{B7DBF297-FFEA-0075-E37D-9AC2C8E7CCA7}"/>
              </a:ext>
            </a:extLst>
          </p:cNvPr>
          <p:cNvSpPr/>
          <p:nvPr/>
        </p:nvSpPr>
        <p:spPr>
          <a:xfrm>
            <a:off x="3358252" y="2619747"/>
            <a:ext cx="1407444" cy="1862346"/>
          </a:xfrm>
          <a:custGeom>
            <a:avLst/>
            <a:gdLst>
              <a:gd name="connsiteX0" fmla="*/ 843713 w 843724"/>
              <a:gd name="connsiteY0" fmla="*/ 123798 h 1116425"/>
              <a:gd name="connsiteX1" fmla="*/ 843713 w 843724"/>
              <a:gd name="connsiteY1" fmla="*/ 992573 h 1116425"/>
              <a:gd name="connsiteX2" fmla="*/ 719888 w 843724"/>
              <a:gd name="connsiteY2" fmla="*/ 1116398 h 1116425"/>
              <a:gd name="connsiteX3" fmla="*/ 123433 w 843724"/>
              <a:gd name="connsiteY3" fmla="*/ 1116398 h 1116425"/>
              <a:gd name="connsiteX4" fmla="*/ 3799 w 843724"/>
              <a:gd name="connsiteY4" fmla="*/ 1023244 h 1116425"/>
              <a:gd name="connsiteX5" fmla="*/ -11 w 843724"/>
              <a:gd name="connsiteY5" fmla="*/ 992954 h 1116425"/>
              <a:gd name="connsiteX6" fmla="*/ -11 w 843724"/>
              <a:gd name="connsiteY6" fmla="*/ 123798 h 1116425"/>
              <a:gd name="connsiteX7" fmla="*/ 123433 w 843724"/>
              <a:gd name="connsiteY7" fmla="*/ -27 h 1116425"/>
              <a:gd name="connsiteX8" fmla="*/ 720650 w 843724"/>
              <a:gd name="connsiteY8" fmla="*/ -27 h 1116425"/>
              <a:gd name="connsiteX9" fmla="*/ 843713 w 843724"/>
              <a:gd name="connsiteY9" fmla="*/ 123798 h 1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3724" h="1116425">
                <a:moveTo>
                  <a:pt x="843713" y="123798"/>
                </a:moveTo>
                <a:lnTo>
                  <a:pt x="843713" y="992573"/>
                </a:lnTo>
                <a:cubicBezTo>
                  <a:pt x="843713" y="1060963"/>
                  <a:pt x="788278" y="1116398"/>
                  <a:pt x="719888" y="1116398"/>
                </a:cubicBezTo>
                <a:lnTo>
                  <a:pt x="123433" y="1116398"/>
                </a:lnTo>
                <a:cubicBezTo>
                  <a:pt x="66983" y="1116246"/>
                  <a:pt x="17780" y="1077936"/>
                  <a:pt x="3799" y="1023244"/>
                </a:cubicBezTo>
                <a:cubicBezTo>
                  <a:pt x="1268" y="1013347"/>
                  <a:pt x="-12" y="1003175"/>
                  <a:pt x="-11" y="992954"/>
                </a:cubicBezTo>
                <a:lnTo>
                  <a:pt x="-11" y="123798"/>
                </a:lnTo>
                <a:cubicBezTo>
                  <a:pt x="-11" y="55560"/>
                  <a:pt x="55195" y="182"/>
                  <a:pt x="123433" y="-27"/>
                </a:cubicBezTo>
                <a:lnTo>
                  <a:pt x="720650" y="-27"/>
                </a:lnTo>
                <a:cubicBezTo>
                  <a:pt x="788735" y="392"/>
                  <a:pt x="843713" y="55708"/>
                  <a:pt x="843713" y="123798"/>
                </a:cubicBezTo>
                <a:close/>
              </a:path>
            </a:pathLst>
          </a:custGeom>
          <a:gradFill>
            <a:gsLst>
              <a:gs pos="0">
                <a:srgbClr val="FFFFFF"/>
              </a:gs>
              <a:gs pos="43000">
                <a:srgbClr val="FCFCFC"/>
              </a:gs>
              <a:gs pos="80000">
                <a:srgbClr val="F1F1F1"/>
              </a:gs>
              <a:gs pos="100000">
                <a:srgbClr val="E8E8E8"/>
              </a:gs>
            </a:gsLst>
            <a:lin ang="13500000" scaled="1"/>
          </a:gra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7" name="Rectangle: Rounded Corners 36">
            <a:extLst>
              <a:ext uri="{FF2B5EF4-FFF2-40B4-BE49-F238E27FC236}">
                <a16:creationId xmlns:a16="http://schemas.microsoft.com/office/drawing/2014/main" id="{AC26B791-A8E5-AC27-E378-AEE09D1BDE5F}"/>
              </a:ext>
            </a:extLst>
          </p:cNvPr>
          <p:cNvSpPr/>
          <p:nvPr/>
        </p:nvSpPr>
        <p:spPr>
          <a:xfrm>
            <a:off x="3416088" y="2678854"/>
            <a:ext cx="1290978" cy="1744132"/>
          </a:xfrm>
          <a:prstGeom prst="roundRect">
            <a:avLst/>
          </a:pr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8" name="Freeform: Shape 37">
            <a:extLst>
              <a:ext uri="{FF2B5EF4-FFF2-40B4-BE49-F238E27FC236}">
                <a16:creationId xmlns:a16="http://schemas.microsoft.com/office/drawing/2014/main" id="{5BFD9AC7-16B9-C356-8DAC-FD0A4462B25E}"/>
              </a:ext>
            </a:extLst>
          </p:cNvPr>
          <p:cNvSpPr/>
          <p:nvPr/>
        </p:nvSpPr>
        <p:spPr>
          <a:xfrm>
            <a:off x="3699389" y="2287033"/>
            <a:ext cx="640960" cy="640960"/>
          </a:xfrm>
          <a:custGeom>
            <a:avLst/>
            <a:gdLst>
              <a:gd name="connsiteX0" fmla="*/ 384239 w 384238"/>
              <a:gd name="connsiteY0" fmla="*/ 192119 h 384238"/>
              <a:gd name="connsiteX1" fmla="*/ 192119 w 384238"/>
              <a:gd name="connsiteY1" fmla="*/ 384239 h 384238"/>
              <a:gd name="connsiteX2" fmla="*/ 0 w 384238"/>
              <a:gd name="connsiteY2" fmla="*/ 192119 h 384238"/>
              <a:gd name="connsiteX3" fmla="*/ 192119 w 384238"/>
              <a:gd name="connsiteY3" fmla="*/ 0 h 384238"/>
              <a:gd name="connsiteX4" fmla="*/ 384239 w 384238"/>
              <a:gd name="connsiteY4" fmla="*/ 192119 h 38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238" h="384238">
                <a:moveTo>
                  <a:pt x="384239" y="192119"/>
                </a:moveTo>
                <a:cubicBezTo>
                  <a:pt x="384239" y="298224"/>
                  <a:pt x="298224" y="384239"/>
                  <a:pt x="192119" y="384239"/>
                </a:cubicBezTo>
                <a:cubicBezTo>
                  <a:pt x="86015" y="384239"/>
                  <a:pt x="0" y="298224"/>
                  <a:pt x="0" y="192119"/>
                </a:cubicBezTo>
                <a:cubicBezTo>
                  <a:pt x="0" y="86015"/>
                  <a:pt x="86015" y="0"/>
                  <a:pt x="192119" y="0"/>
                </a:cubicBezTo>
                <a:cubicBezTo>
                  <a:pt x="298224" y="0"/>
                  <a:pt x="384239" y="86015"/>
                  <a:pt x="384239" y="192119"/>
                </a:cubicBezTo>
                <a:close/>
              </a:path>
            </a:pathLst>
          </a:custGeom>
          <a:solidFill>
            <a:srgbClr val="FFFFFF"/>
          </a:solidFill>
          <a:ln w="9525" cap="flat">
            <a:noFill/>
            <a:prstDash val="solid"/>
            <a:miter/>
          </a:ln>
          <a:effectLst>
            <a:outerShdw blurRad="63500" sx="102000" sy="102000" algn="ctr" rotWithShape="0">
              <a:prstClr val="black">
                <a:alpha val="20000"/>
              </a:prstClr>
            </a:outerShdw>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9" name="Freeform: Shape 38">
            <a:extLst>
              <a:ext uri="{FF2B5EF4-FFF2-40B4-BE49-F238E27FC236}">
                <a16:creationId xmlns:a16="http://schemas.microsoft.com/office/drawing/2014/main" id="{27B382FD-F457-742F-6302-95E444DD17CB}"/>
              </a:ext>
            </a:extLst>
          </p:cNvPr>
          <p:cNvSpPr/>
          <p:nvPr/>
        </p:nvSpPr>
        <p:spPr>
          <a:xfrm rot="20236200">
            <a:off x="3771539" y="2359080"/>
            <a:ext cx="496688" cy="496688"/>
          </a:xfrm>
          <a:custGeom>
            <a:avLst/>
            <a:gdLst>
              <a:gd name="connsiteX0" fmla="*/ 297740 w 297751"/>
              <a:gd name="connsiteY0" fmla="*/ 148849 h 297751"/>
              <a:gd name="connsiteX1" fmla="*/ 148864 w 297751"/>
              <a:gd name="connsiteY1" fmla="*/ 297724 h 297751"/>
              <a:gd name="connsiteX2" fmla="*/ -11 w 297751"/>
              <a:gd name="connsiteY2" fmla="*/ 148849 h 297751"/>
              <a:gd name="connsiteX3" fmla="*/ 148864 w 297751"/>
              <a:gd name="connsiteY3" fmla="*/ -27 h 297751"/>
              <a:gd name="connsiteX4" fmla="*/ 297740 w 297751"/>
              <a:gd name="connsiteY4" fmla="*/ 148849 h 29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751" h="297751">
                <a:moveTo>
                  <a:pt x="297740" y="148849"/>
                </a:moveTo>
                <a:cubicBezTo>
                  <a:pt x="297740" y="231071"/>
                  <a:pt x="231086" y="297724"/>
                  <a:pt x="148864" y="297724"/>
                </a:cubicBezTo>
                <a:cubicBezTo>
                  <a:pt x="66643" y="297724"/>
                  <a:pt x="-11" y="231071"/>
                  <a:pt x="-11" y="148849"/>
                </a:cubicBezTo>
                <a:cubicBezTo>
                  <a:pt x="-11" y="66627"/>
                  <a:pt x="66643" y="-27"/>
                  <a:pt x="148864" y="-27"/>
                </a:cubicBezTo>
                <a:cubicBezTo>
                  <a:pt x="231086" y="-27"/>
                  <a:pt x="297740" y="66627"/>
                  <a:pt x="297740" y="148849"/>
                </a:cubicBezTo>
                <a:close/>
              </a:path>
            </a:pathLst>
          </a:custGeom>
          <a:solidFill>
            <a:schemeClr val="bg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0" name="TextBox 68">
            <a:extLst>
              <a:ext uri="{FF2B5EF4-FFF2-40B4-BE49-F238E27FC236}">
                <a16:creationId xmlns:a16="http://schemas.microsoft.com/office/drawing/2014/main" id="{DE82542F-A7D2-4D76-47A8-D5A2A449B3B9}"/>
              </a:ext>
            </a:extLst>
          </p:cNvPr>
          <p:cNvSpPr txBox="1"/>
          <p:nvPr/>
        </p:nvSpPr>
        <p:spPr>
          <a:xfrm>
            <a:off x="3817517" y="2447682"/>
            <a:ext cx="396262" cy="31162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25" b="1" spc="0" baseline="0" dirty="0">
                <a:ln/>
                <a:solidFill>
                  <a:schemeClr val="bg1"/>
                </a:solidFill>
                <a:latin typeface="Segoe UI" panose="020B0502040204020203" pitchFamily="34" charset="0"/>
                <a:cs typeface="Segoe UI" panose="020B0502040204020203" pitchFamily="34" charset="0"/>
                <a:sym typeface="Arial"/>
                <a:rtl val="0"/>
              </a:rPr>
              <a:t>01</a:t>
            </a:r>
          </a:p>
        </p:txBody>
      </p:sp>
      <p:sp>
        <p:nvSpPr>
          <p:cNvPr id="41" name="Freeform: Shape 40">
            <a:extLst>
              <a:ext uri="{FF2B5EF4-FFF2-40B4-BE49-F238E27FC236}">
                <a16:creationId xmlns:a16="http://schemas.microsoft.com/office/drawing/2014/main" id="{D35B03A2-2BDC-23EB-298B-0C8116492B95}"/>
              </a:ext>
            </a:extLst>
          </p:cNvPr>
          <p:cNvSpPr/>
          <p:nvPr/>
        </p:nvSpPr>
        <p:spPr>
          <a:xfrm>
            <a:off x="6712096" y="2900187"/>
            <a:ext cx="132251" cy="288225"/>
          </a:xfrm>
          <a:custGeom>
            <a:avLst/>
            <a:gdLst>
              <a:gd name="connsiteX0" fmla="*/ -11 w 79281"/>
              <a:gd name="connsiteY0" fmla="*/ -27 h 172783"/>
              <a:gd name="connsiteX1" fmla="*/ 74284 w 79281"/>
              <a:gd name="connsiteY1" fmla="*/ 74268 h 172783"/>
              <a:gd name="connsiteX2" fmla="*/ 74284 w 79281"/>
              <a:gd name="connsiteY2" fmla="*/ 98366 h 172783"/>
              <a:gd name="connsiteX3" fmla="*/ -11 w 79281"/>
              <a:gd name="connsiteY3" fmla="*/ 172756 h 172783"/>
            </a:gdLst>
            <a:ahLst/>
            <a:cxnLst>
              <a:cxn ang="0">
                <a:pos x="connsiteX0" y="connsiteY0"/>
              </a:cxn>
              <a:cxn ang="0">
                <a:pos x="connsiteX1" y="connsiteY1"/>
              </a:cxn>
              <a:cxn ang="0">
                <a:pos x="connsiteX2" y="connsiteY2"/>
              </a:cxn>
              <a:cxn ang="0">
                <a:pos x="connsiteX3" y="connsiteY3"/>
              </a:cxn>
            </a:cxnLst>
            <a:rect l="l" t="t" r="r" b="b"/>
            <a:pathLst>
              <a:path w="79281" h="172783">
                <a:moveTo>
                  <a:pt x="-11" y="-27"/>
                </a:moveTo>
                <a:lnTo>
                  <a:pt x="74284" y="74268"/>
                </a:lnTo>
                <a:cubicBezTo>
                  <a:pt x="80932" y="80925"/>
                  <a:pt x="80932" y="91709"/>
                  <a:pt x="74284" y="98366"/>
                </a:cubicBezTo>
                <a:lnTo>
                  <a:pt x="-11" y="172756"/>
                </a:lnTo>
                <a:close/>
              </a:path>
            </a:pathLst>
          </a:custGeom>
          <a:solidFill>
            <a:schemeClr val="accent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2" name="Freeform: Shape 41">
            <a:extLst>
              <a:ext uri="{FF2B5EF4-FFF2-40B4-BE49-F238E27FC236}">
                <a16:creationId xmlns:a16="http://schemas.microsoft.com/office/drawing/2014/main" id="{DE69944D-05CE-D7A1-AB9E-F7EAAEE66882}"/>
              </a:ext>
            </a:extLst>
          </p:cNvPr>
          <p:cNvSpPr/>
          <p:nvPr/>
        </p:nvSpPr>
        <p:spPr>
          <a:xfrm>
            <a:off x="5110965" y="2522190"/>
            <a:ext cx="1604309" cy="2057463"/>
          </a:xfrm>
          <a:custGeom>
            <a:avLst/>
            <a:gdLst>
              <a:gd name="connsiteX0" fmla="*/ 961728 w 961739"/>
              <a:gd name="connsiteY0" fmla="*/ 453839 h 1233392"/>
              <a:gd name="connsiteX1" fmla="*/ 961728 w 961739"/>
              <a:gd name="connsiteY1" fmla="*/ 1051057 h 1233392"/>
              <a:gd name="connsiteX2" fmla="*/ 779419 w 961739"/>
              <a:gd name="connsiteY2" fmla="*/ 1233365 h 1233392"/>
              <a:gd name="connsiteX3" fmla="*/ 182202 w 961739"/>
              <a:gd name="connsiteY3" fmla="*/ 1233365 h 1233392"/>
              <a:gd name="connsiteX4" fmla="*/ -11 w 961739"/>
              <a:gd name="connsiteY4" fmla="*/ 1051152 h 1233392"/>
              <a:gd name="connsiteX5" fmla="*/ -11 w 961739"/>
              <a:gd name="connsiteY5" fmla="*/ 1051057 h 1233392"/>
              <a:gd name="connsiteX6" fmla="*/ -11 w 961739"/>
              <a:gd name="connsiteY6" fmla="*/ 182281 h 1233392"/>
              <a:gd name="connsiteX7" fmla="*/ 182202 w 961739"/>
              <a:gd name="connsiteY7" fmla="*/ -27 h 1233392"/>
              <a:gd name="connsiteX8" fmla="*/ 779419 w 961739"/>
              <a:gd name="connsiteY8" fmla="*/ -27 h 1233392"/>
              <a:gd name="connsiteX9" fmla="*/ 961728 w 961739"/>
              <a:gd name="connsiteY9" fmla="*/ 182281 h 123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1739" h="1233392">
                <a:moveTo>
                  <a:pt x="961728" y="453839"/>
                </a:moveTo>
                <a:lnTo>
                  <a:pt x="961728" y="1051057"/>
                </a:lnTo>
                <a:cubicBezTo>
                  <a:pt x="961566" y="1151679"/>
                  <a:pt x="880041" y="1233203"/>
                  <a:pt x="779419" y="1233365"/>
                </a:cubicBezTo>
                <a:lnTo>
                  <a:pt x="182202" y="1233365"/>
                </a:lnTo>
                <a:cubicBezTo>
                  <a:pt x="81570" y="1233365"/>
                  <a:pt x="-11" y="1151784"/>
                  <a:pt x="-11" y="1051152"/>
                </a:cubicBezTo>
                <a:cubicBezTo>
                  <a:pt x="-11" y="1051123"/>
                  <a:pt x="-11" y="1051085"/>
                  <a:pt x="-11" y="1051057"/>
                </a:cubicBezTo>
                <a:lnTo>
                  <a:pt x="-11" y="182281"/>
                </a:lnTo>
                <a:cubicBezTo>
                  <a:pt x="46" y="81655"/>
                  <a:pt x="81570" y="78"/>
                  <a:pt x="182202" y="-27"/>
                </a:cubicBezTo>
                <a:lnTo>
                  <a:pt x="779419" y="-27"/>
                </a:lnTo>
                <a:cubicBezTo>
                  <a:pt x="880061" y="78"/>
                  <a:pt x="961623" y="81638"/>
                  <a:pt x="961728" y="182281"/>
                </a:cubicBezTo>
                <a:close/>
              </a:path>
            </a:pathLst>
          </a:custGeom>
          <a:solidFill>
            <a:schemeClr val="accent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3" name="Freeform: Shape 42">
            <a:extLst>
              <a:ext uri="{FF2B5EF4-FFF2-40B4-BE49-F238E27FC236}">
                <a16:creationId xmlns:a16="http://schemas.microsoft.com/office/drawing/2014/main" id="{4DC90BBE-CE01-2E96-F79E-854314A1AF23}"/>
              </a:ext>
            </a:extLst>
          </p:cNvPr>
          <p:cNvSpPr/>
          <p:nvPr/>
        </p:nvSpPr>
        <p:spPr>
          <a:xfrm>
            <a:off x="5208521" y="2619747"/>
            <a:ext cx="1408559" cy="1862346"/>
          </a:xfrm>
          <a:custGeom>
            <a:avLst/>
            <a:gdLst>
              <a:gd name="connsiteX0" fmla="*/ 844381 w 844392"/>
              <a:gd name="connsiteY0" fmla="*/ 123798 h 1116425"/>
              <a:gd name="connsiteX1" fmla="*/ 844381 w 844392"/>
              <a:gd name="connsiteY1" fmla="*/ 992573 h 1116425"/>
              <a:gd name="connsiteX2" fmla="*/ 720556 w 844392"/>
              <a:gd name="connsiteY2" fmla="*/ 1116398 h 1116425"/>
              <a:gd name="connsiteX3" fmla="*/ 123339 w 844392"/>
              <a:gd name="connsiteY3" fmla="*/ 1116398 h 1116425"/>
              <a:gd name="connsiteX4" fmla="*/ 3800 w 844392"/>
              <a:gd name="connsiteY4" fmla="*/ 1023244 h 1116425"/>
              <a:gd name="connsiteX5" fmla="*/ -10 w 844392"/>
              <a:gd name="connsiteY5" fmla="*/ 992954 h 1116425"/>
              <a:gd name="connsiteX6" fmla="*/ -10 w 844392"/>
              <a:gd name="connsiteY6" fmla="*/ 123798 h 1116425"/>
              <a:gd name="connsiteX7" fmla="*/ 123339 w 844392"/>
              <a:gd name="connsiteY7" fmla="*/ -27 h 1116425"/>
              <a:gd name="connsiteX8" fmla="*/ 720556 w 844392"/>
              <a:gd name="connsiteY8" fmla="*/ -27 h 1116425"/>
              <a:gd name="connsiteX9" fmla="*/ 844381 w 844392"/>
              <a:gd name="connsiteY9" fmla="*/ 123798 h 1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4392" h="1116425">
                <a:moveTo>
                  <a:pt x="844381" y="123798"/>
                </a:moveTo>
                <a:lnTo>
                  <a:pt x="844381" y="992573"/>
                </a:lnTo>
                <a:cubicBezTo>
                  <a:pt x="844381" y="1060963"/>
                  <a:pt x="788946" y="1116398"/>
                  <a:pt x="720556" y="1116398"/>
                </a:cubicBezTo>
                <a:lnTo>
                  <a:pt x="123339" y="1116398"/>
                </a:lnTo>
                <a:cubicBezTo>
                  <a:pt x="66855" y="1116408"/>
                  <a:pt x="17592" y="1078022"/>
                  <a:pt x="3800" y="1023244"/>
                </a:cubicBezTo>
                <a:cubicBezTo>
                  <a:pt x="1219" y="1013357"/>
                  <a:pt x="-58" y="1003175"/>
                  <a:pt x="-10" y="992954"/>
                </a:cubicBezTo>
                <a:lnTo>
                  <a:pt x="-10" y="123798"/>
                </a:lnTo>
                <a:cubicBezTo>
                  <a:pt x="-10" y="55597"/>
                  <a:pt x="55140" y="235"/>
                  <a:pt x="123339" y="-27"/>
                </a:cubicBezTo>
                <a:lnTo>
                  <a:pt x="720556" y="-27"/>
                </a:lnTo>
                <a:cubicBezTo>
                  <a:pt x="788946" y="-27"/>
                  <a:pt x="844381" y="55411"/>
                  <a:pt x="844381" y="123798"/>
                </a:cubicBezTo>
                <a:close/>
              </a:path>
            </a:pathLst>
          </a:custGeom>
          <a:gradFill>
            <a:gsLst>
              <a:gs pos="0">
                <a:srgbClr val="FFFFFF"/>
              </a:gs>
              <a:gs pos="43000">
                <a:srgbClr val="FCFCFC"/>
              </a:gs>
              <a:gs pos="80000">
                <a:srgbClr val="F1F1F1"/>
              </a:gs>
              <a:gs pos="100000">
                <a:srgbClr val="E8E8E8"/>
              </a:gs>
            </a:gsLst>
            <a:lin ang="13500000" scaled="1"/>
          </a:gra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4" name="Rectangle: Rounded Corners 43">
            <a:extLst>
              <a:ext uri="{FF2B5EF4-FFF2-40B4-BE49-F238E27FC236}">
                <a16:creationId xmlns:a16="http://schemas.microsoft.com/office/drawing/2014/main" id="{D965B051-91C0-9ED8-0D4E-D0E7EF72DFA6}"/>
              </a:ext>
            </a:extLst>
          </p:cNvPr>
          <p:cNvSpPr/>
          <p:nvPr/>
        </p:nvSpPr>
        <p:spPr>
          <a:xfrm>
            <a:off x="5267631" y="2678854"/>
            <a:ext cx="1290978" cy="1744132"/>
          </a:xfrm>
          <a:prstGeom prst="roundRect">
            <a:avLst/>
          </a:pr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5" name="Freeform: Shape 44">
            <a:extLst>
              <a:ext uri="{FF2B5EF4-FFF2-40B4-BE49-F238E27FC236}">
                <a16:creationId xmlns:a16="http://schemas.microsoft.com/office/drawing/2014/main" id="{594259F4-9401-5E4C-5F36-449171CEDCE4}"/>
              </a:ext>
            </a:extLst>
          </p:cNvPr>
          <p:cNvSpPr/>
          <p:nvPr/>
        </p:nvSpPr>
        <p:spPr>
          <a:xfrm>
            <a:off x="5550930" y="2287033"/>
            <a:ext cx="640960" cy="640960"/>
          </a:xfrm>
          <a:custGeom>
            <a:avLst/>
            <a:gdLst>
              <a:gd name="connsiteX0" fmla="*/ 384238 w 384238"/>
              <a:gd name="connsiteY0" fmla="*/ 192119 h 384238"/>
              <a:gd name="connsiteX1" fmla="*/ 192119 w 384238"/>
              <a:gd name="connsiteY1" fmla="*/ 384239 h 384238"/>
              <a:gd name="connsiteX2" fmla="*/ 0 w 384238"/>
              <a:gd name="connsiteY2" fmla="*/ 192119 h 384238"/>
              <a:gd name="connsiteX3" fmla="*/ 192119 w 384238"/>
              <a:gd name="connsiteY3" fmla="*/ 0 h 384238"/>
              <a:gd name="connsiteX4" fmla="*/ 384238 w 384238"/>
              <a:gd name="connsiteY4" fmla="*/ 192119 h 38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238" h="384238">
                <a:moveTo>
                  <a:pt x="384238" y="192119"/>
                </a:moveTo>
                <a:cubicBezTo>
                  <a:pt x="384238" y="298224"/>
                  <a:pt x="298224" y="384239"/>
                  <a:pt x="192119" y="384239"/>
                </a:cubicBezTo>
                <a:cubicBezTo>
                  <a:pt x="86015" y="384239"/>
                  <a:pt x="0" y="298224"/>
                  <a:pt x="0" y="192119"/>
                </a:cubicBezTo>
                <a:cubicBezTo>
                  <a:pt x="0" y="86015"/>
                  <a:pt x="86015" y="0"/>
                  <a:pt x="192119" y="0"/>
                </a:cubicBezTo>
                <a:cubicBezTo>
                  <a:pt x="298224" y="0"/>
                  <a:pt x="384238" y="86015"/>
                  <a:pt x="384238" y="192119"/>
                </a:cubicBezTo>
                <a:close/>
              </a:path>
            </a:pathLst>
          </a:custGeom>
          <a:solidFill>
            <a:srgbClr val="FFFFFF"/>
          </a:solidFill>
          <a:ln w="9525" cap="flat">
            <a:noFill/>
            <a:prstDash val="solid"/>
            <a:miter/>
          </a:ln>
          <a:effectLst>
            <a:outerShdw blurRad="63500" sx="102000" sy="102000" algn="ctr" rotWithShape="0">
              <a:prstClr val="black">
                <a:alpha val="20000"/>
              </a:prstClr>
            </a:outerShdw>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6" name="Freeform: Shape 45">
            <a:extLst>
              <a:ext uri="{FF2B5EF4-FFF2-40B4-BE49-F238E27FC236}">
                <a16:creationId xmlns:a16="http://schemas.microsoft.com/office/drawing/2014/main" id="{9B733E29-5BA6-12A3-DAFC-FEA45DFFF804}"/>
              </a:ext>
            </a:extLst>
          </p:cNvPr>
          <p:cNvSpPr/>
          <p:nvPr/>
        </p:nvSpPr>
        <p:spPr>
          <a:xfrm rot="18900000">
            <a:off x="5623037" y="2359091"/>
            <a:ext cx="496688" cy="496688"/>
          </a:xfrm>
          <a:custGeom>
            <a:avLst/>
            <a:gdLst>
              <a:gd name="connsiteX0" fmla="*/ 297740 w 297751"/>
              <a:gd name="connsiteY0" fmla="*/ 148849 h 297751"/>
              <a:gd name="connsiteX1" fmla="*/ 148864 w 297751"/>
              <a:gd name="connsiteY1" fmla="*/ 297725 h 297751"/>
              <a:gd name="connsiteX2" fmla="*/ -11 w 297751"/>
              <a:gd name="connsiteY2" fmla="*/ 148849 h 297751"/>
              <a:gd name="connsiteX3" fmla="*/ 148864 w 297751"/>
              <a:gd name="connsiteY3" fmla="*/ -27 h 297751"/>
              <a:gd name="connsiteX4" fmla="*/ 297740 w 297751"/>
              <a:gd name="connsiteY4" fmla="*/ 148849 h 29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751" h="297751">
                <a:moveTo>
                  <a:pt x="297740" y="148849"/>
                </a:moveTo>
                <a:cubicBezTo>
                  <a:pt x="297740" y="231071"/>
                  <a:pt x="231086" y="297725"/>
                  <a:pt x="148864" y="297725"/>
                </a:cubicBezTo>
                <a:cubicBezTo>
                  <a:pt x="66642" y="297725"/>
                  <a:pt x="-11" y="231071"/>
                  <a:pt x="-11" y="148849"/>
                </a:cubicBezTo>
                <a:cubicBezTo>
                  <a:pt x="-11" y="66627"/>
                  <a:pt x="66642" y="-27"/>
                  <a:pt x="148864" y="-27"/>
                </a:cubicBezTo>
                <a:cubicBezTo>
                  <a:pt x="231086" y="-27"/>
                  <a:pt x="297740" y="66627"/>
                  <a:pt x="297740" y="148849"/>
                </a:cubicBezTo>
                <a:close/>
              </a:path>
            </a:pathLst>
          </a:custGeom>
          <a:solidFill>
            <a:schemeClr val="accent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7" name="TextBox 100">
            <a:extLst>
              <a:ext uri="{FF2B5EF4-FFF2-40B4-BE49-F238E27FC236}">
                <a16:creationId xmlns:a16="http://schemas.microsoft.com/office/drawing/2014/main" id="{BDB06E5F-1D36-622D-891E-3BC7F5D785AD}"/>
              </a:ext>
            </a:extLst>
          </p:cNvPr>
          <p:cNvSpPr txBox="1"/>
          <p:nvPr/>
        </p:nvSpPr>
        <p:spPr>
          <a:xfrm>
            <a:off x="5669060" y="2447682"/>
            <a:ext cx="396262" cy="31162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25" b="1" spc="0" baseline="0">
                <a:ln/>
                <a:solidFill>
                  <a:schemeClr val="bg1"/>
                </a:solidFill>
                <a:latin typeface="Segoe UI" panose="020B0502040204020203" pitchFamily="34" charset="0"/>
                <a:cs typeface="Segoe UI" panose="020B0502040204020203" pitchFamily="34" charset="0"/>
                <a:sym typeface="Arial"/>
                <a:rtl val="0"/>
              </a:rPr>
              <a:t>02</a:t>
            </a:r>
          </a:p>
        </p:txBody>
      </p:sp>
      <p:sp>
        <p:nvSpPr>
          <p:cNvPr id="48" name="Freeform: Shape 47">
            <a:extLst>
              <a:ext uri="{FF2B5EF4-FFF2-40B4-BE49-F238E27FC236}">
                <a16:creationId xmlns:a16="http://schemas.microsoft.com/office/drawing/2014/main" id="{862EA37E-09AC-9826-7A13-242F18988BD4}"/>
              </a:ext>
            </a:extLst>
          </p:cNvPr>
          <p:cNvSpPr/>
          <p:nvPr/>
        </p:nvSpPr>
        <p:spPr>
          <a:xfrm>
            <a:off x="8563638" y="2900187"/>
            <a:ext cx="132251" cy="288225"/>
          </a:xfrm>
          <a:custGeom>
            <a:avLst/>
            <a:gdLst>
              <a:gd name="connsiteX0" fmla="*/ -11 w 79281"/>
              <a:gd name="connsiteY0" fmla="*/ -27 h 172783"/>
              <a:gd name="connsiteX1" fmla="*/ 74284 w 79281"/>
              <a:gd name="connsiteY1" fmla="*/ 74268 h 172783"/>
              <a:gd name="connsiteX2" fmla="*/ 74284 w 79281"/>
              <a:gd name="connsiteY2" fmla="*/ 98366 h 172783"/>
              <a:gd name="connsiteX3" fmla="*/ -11 w 79281"/>
              <a:gd name="connsiteY3" fmla="*/ 172756 h 172783"/>
            </a:gdLst>
            <a:ahLst/>
            <a:cxnLst>
              <a:cxn ang="0">
                <a:pos x="connsiteX0" y="connsiteY0"/>
              </a:cxn>
              <a:cxn ang="0">
                <a:pos x="connsiteX1" y="connsiteY1"/>
              </a:cxn>
              <a:cxn ang="0">
                <a:pos x="connsiteX2" y="connsiteY2"/>
              </a:cxn>
              <a:cxn ang="0">
                <a:pos x="connsiteX3" y="connsiteY3"/>
              </a:cxn>
            </a:cxnLst>
            <a:rect l="l" t="t" r="r" b="b"/>
            <a:pathLst>
              <a:path w="79281" h="172783">
                <a:moveTo>
                  <a:pt x="-11" y="-27"/>
                </a:moveTo>
                <a:lnTo>
                  <a:pt x="74284" y="74268"/>
                </a:lnTo>
                <a:cubicBezTo>
                  <a:pt x="80932" y="80925"/>
                  <a:pt x="80932" y="91709"/>
                  <a:pt x="74284" y="98366"/>
                </a:cubicBezTo>
                <a:lnTo>
                  <a:pt x="-11" y="172756"/>
                </a:lnTo>
                <a:close/>
              </a:path>
            </a:pathLst>
          </a:custGeom>
          <a:solidFill>
            <a:schemeClr val="accent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9" name="Freeform: Shape 48">
            <a:extLst>
              <a:ext uri="{FF2B5EF4-FFF2-40B4-BE49-F238E27FC236}">
                <a16:creationId xmlns:a16="http://schemas.microsoft.com/office/drawing/2014/main" id="{98F7FB06-DCF6-645A-B7C0-4EA5C912BAE5}"/>
              </a:ext>
            </a:extLst>
          </p:cNvPr>
          <p:cNvSpPr/>
          <p:nvPr/>
        </p:nvSpPr>
        <p:spPr>
          <a:xfrm>
            <a:off x="6964413" y="2522190"/>
            <a:ext cx="1603515" cy="2057463"/>
          </a:xfrm>
          <a:custGeom>
            <a:avLst/>
            <a:gdLst>
              <a:gd name="connsiteX0" fmla="*/ 961252 w 961263"/>
              <a:gd name="connsiteY0" fmla="*/ 453839 h 1233392"/>
              <a:gd name="connsiteX1" fmla="*/ 961252 w 961263"/>
              <a:gd name="connsiteY1" fmla="*/ 1051057 h 1233392"/>
              <a:gd name="connsiteX2" fmla="*/ 778943 w 961263"/>
              <a:gd name="connsiteY2" fmla="*/ 1233365 h 1233392"/>
              <a:gd name="connsiteX3" fmla="*/ 181726 w 961263"/>
              <a:gd name="connsiteY3" fmla="*/ 1233365 h 1233392"/>
              <a:gd name="connsiteX4" fmla="*/ -11 w 961263"/>
              <a:gd name="connsiteY4" fmla="*/ 1051057 h 1233392"/>
              <a:gd name="connsiteX5" fmla="*/ -11 w 961263"/>
              <a:gd name="connsiteY5" fmla="*/ 182281 h 1233392"/>
              <a:gd name="connsiteX6" fmla="*/ 182202 w 961263"/>
              <a:gd name="connsiteY6" fmla="*/ -27 h 1233392"/>
              <a:gd name="connsiteX7" fmla="*/ 779419 w 961263"/>
              <a:gd name="connsiteY7" fmla="*/ -27 h 1233392"/>
              <a:gd name="connsiteX8" fmla="*/ 961252 w 961263"/>
              <a:gd name="connsiteY8" fmla="*/ 182281 h 123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263" h="1233392">
                <a:moveTo>
                  <a:pt x="961252" y="453839"/>
                </a:moveTo>
                <a:lnTo>
                  <a:pt x="961252" y="1051057"/>
                </a:lnTo>
                <a:cubicBezTo>
                  <a:pt x="961099" y="1151679"/>
                  <a:pt x="879565" y="1233203"/>
                  <a:pt x="778943" y="1233365"/>
                </a:cubicBezTo>
                <a:lnTo>
                  <a:pt x="181726" y="1233365"/>
                </a:lnTo>
                <a:cubicBezTo>
                  <a:pt x="81237" y="1233099"/>
                  <a:pt x="-69" y="1151545"/>
                  <a:pt x="-11" y="1051057"/>
                </a:cubicBezTo>
                <a:lnTo>
                  <a:pt x="-11" y="182281"/>
                </a:lnTo>
                <a:cubicBezTo>
                  <a:pt x="46" y="81655"/>
                  <a:pt x="81570" y="78"/>
                  <a:pt x="182202" y="-27"/>
                </a:cubicBezTo>
                <a:lnTo>
                  <a:pt x="779419" y="-27"/>
                </a:lnTo>
                <a:cubicBezTo>
                  <a:pt x="879880" y="340"/>
                  <a:pt x="961147" y="81824"/>
                  <a:pt x="961252" y="182281"/>
                </a:cubicBezTo>
                <a:close/>
              </a:path>
            </a:pathLst>
          </a:custGeom>
          <a:solidFill>
            <a:schemeClr val="accent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0" name="Freeform: Shape 49">
            <a:extLst>
              <a:ext uri="{FF2B5EF4-FFF2-40B4-BE49-F238E27FC236}">
                <a16:creationId xmlns:a16="http://schemas.microsoft.com/office/drawing/2014/main" id="{66D6B7E6-A905-06F8-A5DE-AD4DE7A9E880}"/>
              </a:ext>
            </a:extLst>
          </p:cNvPr>
          <p:cNvSpPr/>
          <p:nvPr/>
        </p:nvSpPr>
        <p:spPr>
          <a:xfrm>
            <a:off x="7061175" y="2619747"/>
            <a:ext cx="1408559" cy="1862346"/>
          </a:xfrm>
          <a:custGeom>
            <a:avLst/>
            <a:gdLst>
              <a:gd name="connsiteX0" fmla="*/ 844381 w 844392"/>
              <a:gd name="connsiteY0" fmla="*/ 123798 h 1116425"/>
              <a:gd name="connsiteX1" fmla="*/ 844381 w 844392"/>
              <a:gd name="connsiteY1" fmla="*/ 992573 h 1116425"/>
              <a:gd name="connsiteX2" fmla="*/ 720556 w 844392"/>
              <a:gd name="connsiteY2" fmla="*/ 1116398 h 1116425"/>
              <a:gd name="connsiteX3" fmla="*/ 123339 w 844392"/>
              <a:gd name="connsiteY3" fmla="*/ 1116398 h 1116425"/>
              <a:gd name="connsiteX4" fmla="*/ 3800 w 844392"/>
              <a:gd name="connsiteY4" fmla="*/ 1023244 h 1116425"/>
              <a:gd name="connsiteX5" fmla="*/ -10 w 844392"/>
              <a:gd name="connsiteY5" fmla="*/ 992954 h 1116425"/>
              <a:gd name="connsiteX6" fmla="*/ -10 w 844392"/>
              <a:gd name="connsiteY6" fmla="*/ 123798 h 1116425"/>
              <a:gd name="connsiteX7" fmla="*/ 123339 w 844392"/>
              <a:gd name="connsiteY7" fmla="*/ -27 h 1116425"/>
              <a:gd name="connsiteX8" fmla="*/ 720556 w 844392"/>
              <a:gd name="connsiteY8" fmla="*/ -27 h 1116425"/>
              <a:gd name="connsiteX9" fmla="*/ 844381 w 844392"/>
              <a:gd name="connsiteY9" fmla="*/ 123798 h 1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4392" h="1116425">
                <a:moveTo>
                  <a:pt x="844381" y="123798"/>
                </a:moveTo>
                <a:lnTo>
                  <a:pt x="844381" y="992573"/>
                </a:lnTo>
                <a:cubicBezTo>
                  <a:pt x="844381" y="1060963"/>
                  <a:pt x="788946" y="1116398"/>
                  <a:pt x="720556" y="1116398"/>
                </a:cubicBezTo>
                <a:lnTo>
                  <a:pt x="123339" y="1116398"/>
                </a:lnTo>
                <a:cubicBezTo>
                  <a:pt x="66855" y="1116408"/>
                  <a:pt x="17592" y="1078022"/>
                  <a:pt x="3800" y="1023244"/>
                </a:cubicBezTo>
                <a:cubicBezTo>
                  <a:pt x="1219" y="1013357"/>
                  <a:pt x="-58" y="1003175"/>
                  <a:pt x="-10" y="992954"/>
                </a:cubicBezTo>
                <a:lnTo>
                  <a:pt x="-10" y="123798"/>
                </a:lnTo>
                <a:cubicBezTo>
                  <a:pt x="-10" y="55597"/>
                  <a:pt x="55140" y="235"/>
                  <a:pt x="123339" y="-27"/>
                </a:cubicBezTo>
                <a:lnTo>
                  <a:pt x="720556" y="-27"/>
                </a:lnTo>
                <a:cubicBezTo>
                  <a:pt x="788946" y="-27"/>
                  <a:pt x="844381" y="55411"/>
                  <a:pt x="844381" y="123798"/>
                </a:cubicBezTo>
                <a:close/>
              </a:path>
            </a:pathLst>
          </a:custGeom>
          <a:gradFill>
            <a:gsLst>
              <a:gs pos="0">
                <a:srgbClr val="FFFFFF"/>
              </a:gs>
              <a:gs pos="43000">
                <a:srgbClr val="FCFCFC"/>
              </a:gs>
              <a:gs pos="80000">
                <a:srgbClr val="F1F1F1"/>
              </a:gs>
              <a:gs pos="100000">
                <a:srgbClr val="E8E8E8"/>
              </a:gs>
            </a:gsLst>
            <a:lin ang="13500000" scaled="1"/>
          </a:gra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1" name="Rectangle: Rounded Corners 50">
            <a:extLst>
              <a:ext uri="{FF2B5EF4-FFF2-40B4-BE49-F238E27FC236}">
                <a16:creationId xmlns:a16="http://schemas.microsoft.com/office/drawing/2014/main" id="{14A64E42-296B-34A7-8D6D-414CEA355615}"/>
              </a:ext>
            </a:extLst>
          </p:cNvPr>
          <p:cNvSpPr/>
          <p:nvPr/>
        </p:nvSpPr>
        <p:spPr>
          <a:xfrm>
            <a:off x="7120285" y="2678854"/>
            <a:ext cx="1290978" cy="1744132"/>
          </a:xfrm>
          <a:prstGeom prst="roundRect">
            <a:avLst/>
          </a:pr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2" name="Freeform: Shape 51">
            <a:extLst>
              <a:ext uri="{FF2B5EF4-FFF2-40B4-BE49-F238E27FC236}">
                <a16:creationId xmlns:a16="http://schemas.microsoft.com/office/drawing/2014/main" id="{746CEE2C-DB9A-1066-E61E-12560D36D048}"/>
              </a:ext>
            </a:extLst>
          </p:cNvPr>
          <p:cNvSpPr/>
          <p:nvPr/>
        </p:nvSpPr>
        <p:spPr>
          <a:xfrm>
            <a:off x="7403426" y="2287033"/>
            <a:ext cx="640960" cy="640960"/>
          </a:xfrm>
          <a:custGeom>
            <a:avLst/>
            <a:gdLst>
              <a:gd name="connsiteX0" fmla="*/ 384239 w 384238"/>
              <a:gd name="connsiteY0" fmla="*/ 192119 h 384238"/>
              <a:gd name="connsiteX1" fmla="*/ 192119 w 384238"/>
              <a:gd name="connsiteY1" fmla="*/ 384239 h 384238"/>
              <a:gd name="connsiteX2" fmla="*/ 0 w 384238"/>
              <a:gd name="connsiteY2" fmla="*/ 192119 h 384238"/>
              <a:gd name="connsiteX3" fmla="*/ 192119 w 384238"/>
              <a:gd name="connsiteY3" fmla="*/ 0 h 384238"/>
              <a:gd name="connsiteX4" fmla="*/ 384239 w 384238"/>
              <a:gd name="connsiteY4" fmla="*/ 192119 h 38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238" h="384238">
                <a:moveTo>
                  <a:pt x="384239" y="192119"/>
                </a:moveTo>
                <a:cubicBezTo>
                  <a:pt x="384239" y="298224"/>
                  <a:pt x="298224" y="384239"/>
                  <a:pt x="192119" y="384239"/>
                </a:cubicBezTo>
                <a:cubicBezTo>
                  <a:pt x="86015" y="384239"/>
                  <a:pt x="0" y="298224"/>
                  <a:pt x="0" y="192119"/>
                </a:cubicBezTo>
                <a:cubicBezTo>
                  <a:pt x="0" y="86015"/>
                  <a:pt x="86015" y="0"/>
                  <a:pt x="192119" y="0"/>
                </a:cubicBezTo>
                <a:cubicBezTo>
                  <a:pt x="298224" y="0"/>
                  <a:pt x="384239" y="86015"/>
                  <a:pt x="384239" y="192119"/>
                </a:cubicBezTo>
                <a:close/>
              </a:path>
            </a:pathLst>
          </a:custGeom>
          <a:solidFill>
            <a:srgbClr val="FFFFFF"/>
          </a:solidFill>
          <a:ln w="9525" cap="flat">
            <a:noFill/>
            <a:prstDash val="solid"/>
            <a:miter/>
          </a:ln>
          <a:effectLst>
            <a:outerShdw blurRad="63500" sx="102000" sy="102000" algn="ctr" rotWithShape="0">
              <a:prstClr val="black">
                <a:alpha val="20000"/>
              </a:prstClr>
            </a:outerShdw>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3" name="Freeform: Shape 52">
            <a:extLst>
              <a:ext uri="{FF2B5EF4-FFF2-40B4-BE49-F238E27FC236}">
                <a16:creationId xmlns:a16="http://schemas.microsoft.com/office/drawing/2014/main" id="{6665463A-1401-5564-F5AF-35222C74B639}"/>
              </a:ext>
            </a:extLst>
          </p:cNvPr>
          <p:cNvSpPr/>
          <p:nvPr/>
        </p:nvSpPr>
        <p:spPr>
          <a:xfrm rot="16991400">
            <a:off x="7475424" y="2358996"/>
            <a:ext cx="496688" cy="496688"/>
          </a:xfrm>
          <a:custGeom>
            <a:avLst/>
            <a:gdLst>
              <a:gd name="connsiteX0" fmla="*/ 297740 w 297751"/>
              <a:gd name="connsiteY0" fmla="*/ 148849 h 297751"/>
              <a:gd name="connsiteX1" fmla="*/ 148864 w 297751"/>
              <a:gd name="connsiteY1" fmla="*/ 297725 h 297751"/>
              <a:gd name="connsiteX2" fmla="*/ -11 w 297751"/>
              <a:gd name="connsiteY2" fmla="*/ 148849 h 297751"/>
              <a:gd name="connsiteX3" fmla="*/ 148864 w 297751"/>
              <a:gd name="connsiteY3" fmla="*/ -27 h 297751"/>
              <a:gd name="connsiteX4" fmla="*/ 297740 w 297751"/>
              <a:gd name="connsiteY4" fmla="*/ 148849 h 29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751" h="297751">
                <a:moveTo>
                  <a:pt x="297740" y="148849"/>
                </a:moveTo>
                <a:cubicBezTo>
                  <a:pt x="297740" y="231071"/>
                  <a:pt x="231086" y="297725"/>
                  <a:pt x="148864" y="297725"/>
                </a:cubicBezTo>
                <a:cubicBezTo>
                  <a:pt x="66643" y="297725"/>
                  <a:pt x="-11" y="231071"/>
                  <a:pt x="-11" y="148849"/>
                </a:cubicBezTo>
                <a:cubicBezTo>
                  <a:pt x="-11" y="66627"/>
                  <a:pt x="66643" y="-27"/>
                  <a:pt x="148864" y="-27"/>
                </a:cubicBezTo>
                <a:cubicBezTo>
                  <a:pt x="231086" y="-27"/>
                  <a:pt x="297740" y="66627"/>
                  <a:pt x="297740" y="148849"/>
                </a:cubicBezTo>
                <a:close/>
              </a:path>
            </a:pathLst>
          </a:custGeom>
          <a:solidFill>
            <a:schemeClr val="accent2"/>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4" name="TextBox 145">
            <a:extLst>
              <a:ext uri="{FF2B5EF4-FFF2-40B4-BE49-F238E27FC236}">
                <a16:creationId xmlns:a16="http://schemas.microsoft.com/office/drawing/2014/main" id="{75098254-AABC-8848-4E32-8DDD01C72128}"/>
              </a:ext>
            </a:extLst>
          </p:cNvPr>
          <p:cNvSpPr txBox="1"/>
          <p:nvPr/>
        </p:nvSpPr>
        <p:spPr>
          <a:xfrm>
            <a:off x="7521554" y="2447682"/>
            <a:ext cx="396262" cy="31162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25" b="1" spc="0" baseline="0">
                <a:ln/>
                <a:solidFill>
                  <a:schemeClr val="bg1"/>
                </a:solidFill>
                <a:latin typeface="Segoe UI" panose="020B0502040204020203" pitchFamily="34" charset="0"/>
                <a:cs typeface="Segoe UI" panose="020B0502040204020203" pitchFamily="34" charset="0"/>
                <a:sym typeface="Arial"/>
                <a:rtl val="0"/>
              </a:rPr>
              <a:t>03</a:t>
            </a:r>
          </a:p>
        </p:txBody>
      </p:sp>
      <p:sp>
        <p:nvSpPr>
          <p:cNvPr id="62" name="TextBox 773">
            <a:extLst>
              <a:ext uri="{FF2B5EF4-FFF2-40B4-BE49-F238E27FC236}">
                <a16:creationId xmlns:a16="http://schemas.microsoft.com/office/drawing/2014/main" id="{6E050F3C-1771-6454-1221-82600F73AD21}"/>
              </a:ext>
            </a:extLst>
          </p:cNvPr>
          <p:cNvSpPr txBox="1"/>
          <p:nvPr/>
        </p:nvSpPr>
        <p:spPr>
          <a:xfrm>
            <a:off x="3428681" y="3044299"/>
            <a:ext cx="1278385"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Mean Time to Detect (MTTD) &lt; 60 seconds</a:t>
            </a:r>
            <a:endParaRPr lang="en-GB" sz="1400" dirty="0">
              <a:latin typeface="Segoe UI" panose="020B0502040204020203" pitchFamily="34" charset="0"/>
              <a:cs typeface="Segoe UI" panose="020B0502040204020203" pitchFamily="34" charset="0"/>
            </a:endParaRPr>
          </a:p>
        </p:txBody>
      </p:sp>
      <p:sp>
        <p:nvSpPr>
          <p:cNvPr id="63" name="TextBox 774">
            <a:extLst>
              <a:ext uri="{FF2B5EF4-FFF2-40B4-BE49-F238E27FC236}">
                <a16:creationId xmlns:a16="http://schemas.microsoft.com/office/drawing/2014/main" id="{B74E012C-C5C6-644C-48BD-C740EBD0248D}"/>
              </a:ext>
            </a:extLst>
          </p:cNvPr>
          <p:cNvSpPr txBox="1"/>
          <p:nvPr/>
        </p:nvSpPr>
        <p:spPr>
          <a:xfrm>
            <a:off x="5292817" y="3019031"/>
            <a:ext cx="1278385"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Mean Time to Respond (MTTR) &lt; 60 seconds</a:t>
            </a:r>
            <a:endParaRPr lang="en-GB" sz="1400" dirty="0">
              <a:latin typeface="Segoe UI" panose="020B0502040204020203" pitchFamily="34" charset="0"/>
              <a:cs typeface="Segoe UI" panose="020B0502040204020203" pitchFamily="34" charset="0"/>
            </a:endParaRPr>
          </a:p>
        </p:txBody>
      </p:sp>
      <p:sp>
        <p:nvSpPr>
          <p:cNvPr id="64" name="TextBox 775">
            <a:extLst>
              <a:ext uri="{FF2B5EF4-FFF2-40B4-BE49-F238E27FC236}">
                <a16:creationId xmlns:a16="http://schemas.microsoft.com/office/drawing/2014/main" id="{040A4B42-6B4A-7172-7E33-2B446E16DE6B}"/>
              </a:ext>
            </a:extLst>
          </p:cNvPr>
          <p:cNvSpPr txBox="1"/>
          <p:nvPr/>
        </p:nvSpPr>
        <p:spPr>
          <a:xfrm>
            <a:off x="7132878" y="2921311"/>
            <a:ext cx="1278385" cy="147732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Alert Volume Processing 2000 per month</a:t>
            </a:r>
            <a:endParaRPr lang="en-GB"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0188540"/>
      </p:ext>
    </p:extLst>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C76AE-F41A-C65D-25C4-E55E19022C69}"/>
              </a:ext>
            </a:extLst>
          </p:cNvPr>
          <p:cNvSpPr>
            <a:spLocks noGrp="1"/>
          </p:cNvSpPr>
          <p:nvPr>
            <p:ph type="title"/>
          </p:nvPr>
        </p:nvSpPr>
        <p:spPr/>
        <p:txBody>
          <a:bodyPr/>
          <a:lstStyle/>
          <a:p>
            <a:pPr algn="ctr"/>
            <a:r>
              <a:rPr lang="en-US" b="1" dirty="0">
                <a:solidFill>
                  <a:schemeClr val="tx2"/>
                </a:solidFill>
                <a:latin typeface="Equinox Bold" panose="02000500000000000000" pitchFamily="2" charset="0"/>
              </a:rPr>
              <a:t>Analyst Time Saved</a:t>
            </a:r>
            <a:endParaRPr lang="en-US" dirty="0">
              <a:solidFill>
                <a:schemeClr val="tx2"/>
              </a:solidFill>
              <a:latin typeface="Equinox Bold" panose="02000500000000000000" pitchFamily="2" charset="0"/>
            </a:endParaRPr>
          </a:p>
        </p:txBody>
      </p:sp>
      <p:graphicFrame>
        <p:nvGraphicFramePr>
          <p:cNvPr id="4" name="Content Placeholder 3">
            <a:extLst>
              <a:ext uri="{FF2B5EF4-FFF2-40B4-BE49-F238E27FC236}">
                <a16:creationId xmlns:a16="http://schemas.microsoft.com/office/drawing/2014/main" id="{5534AF6B-C5B1-9276-07EC-0B6215A1B4C1}"/>
              </a:ext>
            </a:extLst>
          </p:cNvPr>
          <p:cNvGraphicFramePr>
            <a:graphicFrameLocks noGrp="1"/>
          </p:cNvGraphicFramePr>
          <p:nvPr>
            <p:ph idx="1"/>
            <p:extLst>
              <p:ext uri="{D42A27DB-BD31-4B8C-83A1-F6EECF244321}">
                <p14:modId xmlns:p14="http://schemas.microsoft.com/office/powerpoint/2010/main" val="1773285101"/>
              </p:ext>
            </p:extLst>
          </p:nvPr>
        </p:nvGraphicFramePr>
        <p:xfrm>
          <a:off x="838200" y="2333624"/>
          <a:ext cx="10515600" cy="2421255"/>
        </p:xfrm>
        <a:graphic>
          <a:graphicData uri="http://schemas.openxmlformats.org/drawingml/2006/table">
            <a:tbl>
              <a:tblPr firstRow="1" bandRow="1">
                <a:tableStyleId>{D113A9D2-9D6B-4929-AA2D-F23B5EE8CBE7}</a:tableStyleId>
              </a:tblPr>
              <a:tblGrid>
                <a:gridCol w="2628900">
                  <a:extLst>
                    <a:ext uri="{9D8B030D-6E8A-4147-A177-3AD203B41FA5}">
                      <a16:colId xmlns:a16="http://schemas.microsoft.com/office/drawing/2014/main" val="2954683514"/>
                    </a:ext>
                  </a:extLst>
                </a:gridCol>
                <a:gridCol w="2628900">
                  <a:extLst>
                    <a:ext uri="{9D8B030D-6E8A-4147-A177-3AD203B41FA5}">
                      <a16:colId xmlns:a16="http://schemas.microsoft.com/office/drawing/2014/main" val="2572754271"/>
                    </a:ext>
                  </a:extLst>
                </a:gridCol>
                <a:gridCol w="2628900">
                  <a:extLst>
                    <a:ext uri="{9D8B030D-6E8A-4147-A177-3AD203B41FA5}">
                      <a16:colId xmlns:a16="http://schemas.microsoft.com/office/drawing/2014/main" val="1390920035"/>
                    </a:ext>
                  </a:extLst>
                </a:gridCol>
                <a:gridCol w="2628900">
                  <a:extLst>
                    <a:ext uri="{9D8B030D-6E8A-4147-A177-3AD203B41FA5}">
                      <a16:colId xmlns:a16="http://schemas.microsoft.com/office/drawing/2014/main" val="220813465"/>
                    </a:ext>
                  </a:extLst>
                </a:gridCol>
              </a:tblGrid>
              <a:tr h="484251">
                <a:tc>
                  <a:txBody>
                    <a:bodyPr/>
                    <a:lstStyle/>
                    <a:p>
                      <a:pPr algn="l">
                        <a:lnSpc>
                          <a:spcPts val="1875"/>
                        </a:lnSpc>
                        <a:buNone/>
                      </a:pPr>
                      <a:r>
                        <a:rPr lang="en-US" b="0">
                          <a:effectLst/>
                        </a:rPr>
                        <a:t>Task</a:t>
                      </a:r>
                      <a:endParaRPr lang="en-US" b="0">
                        <a:effectLst/>
                        <a:latin typeface="quote-cjk-patch"/>
                      </a:endParaRPr>
                    </a:p>
                  </a:txBody>
                  <a:tcPr marR="121920" marT="76200" marB="76200" anchor="ctr"/>
                </a:tc>
                <a:tc>
                  <a:txBody>
                    <a:bodyPr/>
                    <a:lstStyle/>
                    <a:p>
                      <a:pPr algn="l">
                        <a:lnSpc>
                          <a:spcPts val="1875"/>
                        </a:lnSpc>
                        <a:buNone/>
                      </a:pPr>
                      <a:r>
                        <a:rPr lang="en-US" b="0" dirty="0">
                          <a:effectLst/>
                        </a:rPr>
                        <a:t>Manual Time</a:t>
                      </a:r>
                      <a:endParaRPr lang="en-US" b="0" dirty="0">
                        <a:effectLst/>
                        <a:latin typeface="quote-cjk-patch"/>
                      </a:endParaRPr>
                    </a:p>
                  </a:txBody>
                  <a:tcPr marL="121920" marR="121920" marT="76200" marB="76200" anchor="ctr"/>
                </a:tc>
                <a:tc>
                  <a:txBody>
                    <a:bodyPr/>
                    <a:lstStyle/>
                    <a:p>
                      <a:pPr algn="l">
                        <a:lnSpc>
                          <a:spcPts val="1875"/>
                        </a:lnSpc>
                        <a:buNone/>
                      </a:pPr>
                      <a:r>
                        <a:rPr lang="en-US" b="0" dirty="0">
                          <a:effectLst/>
                        </a:rPr>
                        <a:t>Automated Time</a:t>
                      </a:r>
                      <a:endParaRPr lang="en-US" b="0" dirty="0">
                        <a:effectLst/>
                        <a:latin typeface="quote-cjk-patch"/>
                      </a:endParaRPr>
                    </a:p>
                  </a:txBody>
                  <a:tcPr marL="121920" marR="121920" marT="76200" marB="76200" anchor="ctr"/>
                </a:tc>
                <a:tc>
                  <a:txBody>
                    <a:bodyPr/>
                    <a:lstStyle/>
                    <a:p>
                      <a:pPr algn="l">
                        <a:lnSpc>
                          <a:spcPts val="1875"/>
                        </a:lnSpc>
                        <a:buNone/>
                      </a:pPr>
                      <a:r>
                        <a:rPr lang="en-US" b="0">
                          <a:effectLst/>
                        </a:rPr>
                        <a:t>Time Saved</a:t>
                      </a:r>
                      <a:endParaRPr lang="en-US" b="0">
                        <a:effectLst/>
                        <a:latin typeface="quote-cjk-patch"/>
                      </a:endParaRPr>
                    </a:p>
                  </a:txBody>
                  <a:tcPr marL="121920" marR="121920" marT="76200" marB="76200" anchor="ctr"/>
                </a:tc>
                <a:extLst>
                  <a:ext uri="{0D108BD9-81ED-4DB2-BD59-A6C34878D82A}">
                    <a16:rowId xmlns:a16="http://schemas.microsoft.com/office/drawing/2014/main" val="273806789"/>
                  </a:ext>
                </a:extLst>
              </a:tr>
              <a:tr h="484251">
                <a:tc>
                  <a:txBody>
                    <a:bodyPr/>
                    <a:lstStyle/>
                    <a:p>
                      <a:pPr>
                        <a:lnSpc>
                          <a:spcPts val="1875"/>
                        </a:lnSpc>
                        <a:buNone/>
                      </a:pPr>
                      <a:r>
                        <a:rPr lang="en-US" b="0">
                          <a:effectLst/>
                        </a:rPr>
                        <a:t>Hash lookup</a:t>
                      </a:r>
                      <a:endParaRPr lang="en-US" b="0">
                        <a:effectLst/>
                        <a:latin typeface="quote-cjk-patch"/>
                      </a:endParaRPr>
                    </a:p>
                  </a:txBody>
                  <a:tcPr marR="121920" marT="76200" marB="76200" anchor="ctr"/>
                </a:tc>
                <a:tc>
                  <a:txBody>
                    <a:bodyPr/>
                    <a:lstStyle/>
                    <a:p>
                      <a:pPr>
                        <a:lnSpc>
                          <a:spcPts val="1875"/>
                        </a:lnSpc>
                        <a:buNone/>
                      </a:pPr>
                      <a:r>
                        <a:rPr lang="en-US" b="0">
                          <a:effectLst/>
                        </a:rPr>
                        <a:t>120 seconds</a:t>
                      </a:r>
                      <a:endParaRPr lang="en-US" b="0">
                        <a:effectLst/>
                        <a:latin typeface="quote-cjk-patch"/>
                      </a:endParaRPr>
                    </a:p>
                  </a:txBody>
                  <a:tcPr marL="121920" marR="121920" marT="76200" marB="76200" anchor="ctr"/>
                </a:tc>
                <a:tc>
                  <a:txBody>
                    <a:bodyPr/>
                    <a:lstStyle/>
                    <a:p>
                      <a:pPr>
                        <a:lnSpc>
                          <a:spcPts val="1875"/>
                        </a:lnSpc>
                        <a:buNone/>
                      </a:pPr>
                      <a:r>
                        <a:rPr lang="en-US" b="0">
                          <a:effectLst/>
                        </a:rPr>
                        <a:t>0.5 seconds</a:t>
                      </a:r>
                      <a:endParaRPr lang="en-US" b="0">
                        <a:effectLst/>
                        <a:latin typeface="quote-cjk-patch"/>
                      </a:endParaRPr>
                    </a:p>
                  </a:txBody>
                  <a:tcPr marL="121920" marR="121920" marT="76200" marB="76200" anchor="ctr"/>
                </a:tc>
                <a:tc>
                  <a:txBody>
                    <a:bodyPr/>
                    <a:lstStyle/>
                    <a:p>
                      <a:pPr>
                        <a:lnSpc>
                          <a:spcPts val="1875"/>
                        </a:lnSpc>
                        <a:buNone/>
                      </a:pPr>
                      <a:r>
                        <a:rPr lang="en-US" b="0">
                          <a:effectLst/>
                        </a:rPr>
                        <a:t>119.5 seconds</a:t>
                      </a:r>
                      <a:endParaRPr lang="en-US" b="0">
                        <a:effectLst/>
                        <a:latin typeface="quote-cjk-patch"/>
                      </a:endParaRPr>
                    </a:p>
                  </a:txBody>
                  <a:tcPr marL="121920" marT="76200" marB="76200" anchor="ctr"/>
                </a:tc>
                <a:extLst>
                  <a:ext uri="{0D108BD9-81ED-4DB2-BD59-A6C34878D82A}">
                    <a16:rowId xmlns:a16="http://schemas.microsoft.com/office/drawing/2014/main" val="2915706046"/>
                  </a:ext>
                </a:extLst>
              </a:tr>
              <a:tr h="484251">
                <a:tc>
                  <a:txBody>
                    <a:bodyPr/>
                    <a:lstStyle/>
                    <a:p>
                      <a:pPr>
                        <a:lnSpc>
                          <a:spcPts val="1875"/>
                        </a:lnSpc>
                        <a:buNone/>
                      </a:pPr>
                      <a:r>
                        <a:rPr lang="en-US" b="0">
                          <a:effectLst/>
                        </a:rPr>
                        <a:t>Email notification</a:t>
                      </a:r>
                      <a:endParaRPr lang="en-US" b="0">
                        <a:effectLst/>
                        <a:latin typeface="quote-cjk-patch"/>
                      </a:endParaRPr>
                    </a:p>
                  </a:txBody>
                  <a:tcPr marR="121920" marT="76200" marB="76200" anchor="ctr"/>
                </a:tc>
                <a:tc>
                  <a:txBody>
                    <a:bodyPr/>
                    <a:lstStyle/>
                    <a:p>
                      <a:pPr>
                        <a:lnSpc>
                          <a:spcPts val="1875"/>
                        </a:lnSpc>
                        <a:buNone/>
                      </a:pPr>
                      <a:r>
                        <a:rPr lang="en-US" b="0">
                          <a:effectLst/>
                        </a:rPr>
                        <a:t>60 seconds</a:t>
                      </a:r>
                      <a:endParaRPr lang="en-US" b="0">
                        <a:effectLst/>
                        <a:latin typeface="quote-cjk-patch"/>
                      </a:endParaRPr>
                    </a:p>
                  </a:txBody>
                  <a:tcPr marL="121920" marR="121920" marT="76200" marB="76200" anchor="ctr"/>
                </a:tc>
                <a:tc>
                  <a:txBody>
                    <a:bodyPr/>
                    <a:lstStyle/>
                    <a:p>
                      <a:pPr>
                        <a:lnSpc>
                          <a:spcPts val="1875"/>
                        </a:lnSpc>
                        <a:buNone/>
                      </a:pPr>
                      <a:r>
                        <a:rPr lang="en-US" b="0">
                          <a:effectLst/>
                        </a:rPr>
                        <a:t>0.5 seconds</a:t>
                      </a:r>
                      <a:endParaRPr lang="en-US" b="0">
                        <a:effectLst/>
                        <a:latin typeface="quote-cjk-patch"/>
                      </a:endParaRPr>
                    </a:p>
                  </a:txBody>
                  <a:tcPr marL="121920" marR="121920" marT="76200" marB="76200" anchor="ctr"/>
                </a:tc>
                <a:tc>
                  <a:txBody>
                    <a:bodyPr/>
                    <a:lstStyle/>
                    <a:p>
                      <a:pPr>
                        <a:lnSpc>
                          <a:spcPts val="1875"/>
                        </a:lnSpc>
                        <a:buNone/>
                      </a:pPr>
                      <a:r>
                        <a:rPr lang="en-US" b="0" dirty="0">
                          <a:effectLst/>
                        </a:rPr>
                        <a:t>59.5 seconds</a:t>
                      </a:r>
                      <a:endParaRPr lang="en-US" b="0" dirty="0">
                        <a:effectLst/>
                        <a:latin typeface="quote-cjk-patch"/>
                      </a:endParaRPr>
                    </a:p>
                  </a:txBody>
                  <a:tcPr marL="121920" marT="76200" marB="76200" anchor="ctr"/>
                </a:tc>
                <a:extLst>
                  <a:ext uri="{0D108BD9-81ED-4DB2-BD59-A6C34878D82A}">
                    <a16:rowId xmlns:a16="http://schemas.microsoft.com/office/drawing/2014/main" val="1303706700"/>
                  </a:ext>
                </a:extLst>
              </a:tr>
              <a:tr h="484251">
                <a:tc>
                  <a:txBody>
                    <a:bodyPr/>
                    <a:lstStyle/>
                    <a:p>
                      <a:pPr>
                        <a:lnSpc>
                          <a:spcPts val="1875"/>
                        </a:lnSpc>
                        <a:buNone/>
                      </a:pPr>
                      <a:r>
                        <a:rPr lang="en-US" b="0">
                          <a:effectLst/>
                        </a:rPr>
                        <a:t>MITRE mapping check</a:t>
                      </a:r>
                      <a:endParaRPr lang="en-US" b="0">
                        <a:effectLst/>
                        <a:latin typeface="quote-cjk-patch"/>
                      </a:endParaRPr>
                    </a:p>
                  </a:txBody>
                  <a:tcPr marR="121920" marT="76200" marB="76200" anchor="ctr"/>
                </a:tc>
                <a:tc>
                  <a:txBody>
                    <a:bodyPr/>
                    <a:lstStyle/>
                    <a:p>
                      <a:pPr>
                        <a:lnSpc>
                          <a:spcPts val="1875"/>
                        </a:lnSpc>
                        <a:buNone/>
                      </a:pPr>
                      <a:r>
                        <a:rPr lang="en-US" b="0">
                          <a:effectLst/>
                        </a:rPr>
                        <a:t>30 seconds</a:t>
                      </a:r>
                      <a:endParaRPr lang="en-US" b="0">
                        <a:effectLst/>
                        <a:latin typeface="quote-cjk-patch"/>
                      </a:endParaRPr>
                    </a:p>
                  </a:txBody>
                  <a:tcPr marL="121920" marR="121920" marT="76200" marB="76200" anchor="ctr"/>
                </a:tc>
                <a:tc>
                  <a:txBody>
                    <a:bodyPr/>
                    <a:lstStyle/>
                    <a:p>
                      <a:pPr>
                        <a:lnSpc>
                          <a:spcPts val="1875"/>
                        </a:lnSpc>
                        <a:buNone/>
                      </a:pPr>
                      <a:r>
                        <a:rPr lang="en-US" b="0">
                          <a:effectLst/>
                        </a:rPr>
                        <a:t>0 seconds (included)</a:t>
                      </a:r>
                      <a:endParaRPr lang="en-US" b="0">
                        <a:effectLst/>
                        <a:latin typeface="quote-cjk-patch"/>
                      </a:endParaRPr>
                    </a:p>
                  </a:txBody>
                  <a:tcPr marL="121920" marR="121920" marT="76200" marB="76200" anchor="ctr"/>
                </a:tc>
                <a:tc>
                  <a:txBody>
                    <a:bodyPr/>
                    <a:lstStyle/>
                    <a:p>
                      <a:pPr>
                        <a:lnSpc>
                          <a:spcPts val="1875"/>
                        </a:lnSpc>
                        <a:buNone/>
                      </a:pPr>
                      <a:r>
                        <a:rPr lang="en-US" b="0">
                          <a:effectLst/>
                        </a:rPr>
                        <a:t>30 seconds</a:t>
                      </a:r>
                      <a:endParaRPr lang="en-US" b="0">
                        <a:effectLst/>
                        <a:latin typeface="quote-cjk-patch"/>
                      </a:endParaRPr>
                    </a:p>
                  </a:txBody>
                  <a:tcPr marL="121920" marT="76200" marB="76200" anchor="ctr"/>
                </a:tc>
                <a:extLst>
                  <a:ext uri="{0D108BD9-81ED-4DB2-BD59-A6C34878D82A}">
                    <a16:rowId xmlns:a16="http://schemas.microsoft.com/office/drawing/2014/main" val="3846200395"/>
                  </a:ext>
                </a:extLst>
              </a:tr>
              <a:tr h="484251">
                <a:tc>
                  <a:txBody>
                    <a:bodyPr/>
                    <a:lstStyle/>
                    <a:p>
                      <a:pPr>
                        <a:lnSpc>
                          <a:spcPts val="1875"/>
                        </a:lnSpc>
                        <a:buNone/>
                      </a:pPr>
                      <a:r>
                        <a:rPr lang="en-US" b="1">
                          <a:effectLst/>
                        </a:rPr>
                        <a:t>Total per alert</a:t>
                      </a:r>
                      <a:endParaRPr lang="en-US" b="0">
                        <a:effectLst/>
                        <a:latin typeface="quote-cjk-patch"/>
                      </a:endParaRPr>
                    </a:p>
                  </a:txBody>
                  <a:tcPr marR="121920" marT="76200" marB="76200" anchor="ctr"/>
                </a:tc>
                <a:tc>
                  <a:txBody>
                    <a:bodyPr/>
                    <a:lstStyle/>
                    <a:p>
                      <a:pPr>
                        <a:lnSpc>
                          <a:spcPts val="1875"/>
                        </a:lnSpc>
                        <a:buNone/>
                      </a:pPr>
                      <a:r>
                        <a:rPr lang="en-US" b="1">
                          <a:effectLst/>
                        </a:rPr>
                        <a:t>210 seconds</a:t>
                      </a:r>
                      <a:endParaRPr lang="en-US" b="0">
                        <a:effectLst/>
                        <a:latin typeface="quote-cjk-patch"/>
                      </a:endParaRPr>
                    </a:p>
                  </a:txBody>
                  <a:tcPr marL="121920" marR="121920" marT="76200" marB="76200" anchor="ctr"/>
                </a:tc>
                <a:tc>
                  <a:txBody>
                    <a:bodyPr/>
                    <a:lstStyle/>
                    <a:p>
                      <a:pPr>
                        <a:lnSpc>
                          <a:spcPts val="1875"/>
                        </a:lnSpc>
                        <a:buNone/>
                      </a:pPr>
                      <a:r>
                        <a:rPr lang="en-US" b="1">
                          <a:effectLst/>
                        </a:rPr>
                        <a:t>1 second</a:t>
                      </a:r>
                      <a:endParaRPr lang="en-US" b="0">
                        <a:effectLst/>
                        <a:latin typeface="quote-cjk-patch"/>
                      </a:endParaRPr>
                    </a:p>
                  </a:txBody>
                  <a:tcPr marL="121920" marR="121920" marT="76200" marB="76200" anchor="ctr"/>
                </a:tc>
                <a:tc>
                  <a:txBody>
                    <a:bodyPr/>
                    <a:lstStyle/>
                    <a:p>
                      <a:pPr>
                        <a:lnSpc>
                          <a:spcPts val="1875"/>
                        </a:lnSpc>
                        <a:buNone/>
                      </a:pPr>
                      <a:r>
                        <a:rPr lang="en-US" b="1" dirty="0">
                          <a:effectLst/>
                        </a:rPr>
                        <a:t>209 seconds</a:t>
                      </a:r>
                      <a:endParaRPr lang="en-US" b="0" dirty="0">
                        <a:effectLst/>
                        <a:latin typeface="quote-cjk-patch"/>
                      </a:endParaRPr>
                    </a:p>
                  </a:txBody>
                  <a:tcPr marL="121920" marT="76200" marB="76200" anchor="ctr"/>
                </a:tc>
                <a:extLst>
                  <a:ext uri="{0D108BD9-81ED-4DB2-BD59-A6C34878D82A}">
                    <a16:rowId xmlns:a16="http://schemas.microsoft.com/office/drawing/2014/main" val="3649900482"/>
                  </a:ext>
                </a:extLst>
              </a:tr>
            </a:tbl>
          </a:graphicData>
        </a:graphic>
      </p:graphicFrame>
    </p:spTree>
    <p:extLst>
      <p:ext uri="{BB962C8B-B14F-4D97-AF65-F5344CB8AC3E}">
        <p14:creationId xmlns:p14="http://schemas.microsoft.com/office/powerpoint/2010/main" val="1762112865"/>
      </p:ext>
    </p:extLst>
  </p:cSld>
  <p:clrMapOvr>
    <a:masterClrMapping/>
  </p:clrMapOvr>
  <p:transition spd="slow">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F22CC-1466-332C-5EB5-3DEF78ED3435}"/>
              </a:ext>
            </a:extLst>
          </p:cNvPr>
          <p:cNvSpPr>
            <a:spLocks noGrp="1"/>
          </p:cNvSpPr>
          <p:nvPr>
            <p:ph type="title"/>
          </p:nvPr>
        </p:nvSpPr>
        <p:spPr>
          <a:xfrm>
            <a:off x="833654" y="164136"/>
            <a:ext cx="10515600" cy="1325563"/>
          </a:xfrm>
        </p:spPr>
        <p:txBody>
          <a:bodyPr>
            <a:normAutofit/>
          </a:bodyPr>
          <a:lstStyle/>
          <a:p>
            <a:r>
              <a:rPr lang="en-US" sz="4000" b="1" dirty="0">
                <a:latin typeface="Deltha" pitchFamily="50" charset="0"/>
              </a:rPr>
              <a:t>Consistency and Reliability</a:t>
            </a:r>
          </a:p>
        </p:txBody>
      </p:sp>
      <p:grpSp>
        <p:nvGrpSpPr>
          <p:cNvPr id="5" name="Group 4">
            <a:extLst>
              <a:ext uri="{FF2B5EF4-FFF2-40B4-BE49-F238E27FC236}">
                <a16:creationId xmlns:a16="http://schemas.microsoft.com/office/drawing/2014/main" id="{5BF211FF-5EDE-78A3-A343-76E05FB4892D}"/>
              </a:ext>
            </a:extLst>
          </p:cNvPr>
          <p:cNvGrpSpPr/>
          <p:nvPr/>
        </p:nvGrpSpPr>
        <p:grpSpPr>
          <a:xfrm>
            <a:off x="3471667" y="1371600"/>
            <a:ext cx="5248666" cy="5302209"/>
            <a:chOff x="576619" y="110192"/>
            <a:chExt cx="6638544" cy="6722291"/>
          </a:xfrm>
        </p:grpSpPr>
        <p:grpSp>
          <p:nvGrpSpPr>
            <p:cNvPr id="9" name="Group 8">
              <a:extLst>
                <a:ext uri="{FF2B5EF4-FFF2-40B4-BE49-F238E27FC236}">
                  <a16:creationId xmlns:a16="http://schemas.microsoft.com/office/drawing/2014/main" id="{4596BA9C-2A27-615B-F84F-EB630313354C}"/>
                </a:ext>
              </a:extLst>
            </p:cNvPr>
            <p:cNvGrpSpPr/>
            <p:nvPr/>
          </p:nvGrpSpPr>
          <p:grpSpPr>
            <a:xfrm>
              <a:off x="576619" y="110192"/>
              <a:ext cx="6638544" cy="6637616"/>
              <a:chOff x="2786419" y="116824"/>
              <a:chExt cx="6638544" cy="6637616"/>
            </a:xfrm>
          </p:grpSpPr>
          <p:sp>
            <p:nvSpPr>
              <p:cNvPr id="19" name="Freeform: Shape 18">
                <a:extLst>
                  <a:ext uri="{FF2B5EF4-FFF2-40B4-BE49-F238E27FC236}">
                    <a16:creationId xmlns:a16="http://schemas.microsoft.com/office/drawing/2014/main" id="{75C494A7-00B0-DA0B-6736-CE44CC5559BC}"/>
                  </a:ext>
                </a:extLst>
              </p:cNvPr>
              <p:cNvSpPr/>
              <p:nvPr/>
            </p:nvSpPr>
            <p:spPr>
              <a:xfrm>
                <a:off x="2786419" y="2449716"/>
                <a:ext cx="720646" cy="1974847"/>
              </a:xfrm>
              <a:custGeom>
                <a:avLst/>
                <a:gdLst>
                  <a:gd name="connsiteX0" fmla="*/ 48408 w 720646"/>
                  <a:gd name="connsiteY0" fmla="*/ 952920 h 1974847"/>
                  <a:gd name="connsiteX1" fmla="*/ 716770 w 720646"/>
                  <a:gd name="connsiteY1" fmla="*/ 14732 h 1974847"/>
                  <a:gd name="connsiteX2" fmla="*/ 681879 w 720646"/>
                  <a:gd name="connsiteY2" fmla="*/ 0 h 1974847"/>
                  <a:gd name="connsiteX3" fmla="*/ 17393 w 720646"/>
                  <a:gd name="connsiteY3" fmla="*/ 930434 h 1974847"/>
                  <a:gd name="connsiteX4" fmla="*/ 17393 w 720646"/>
                  <a:gd name="connsiteY4" fmla="*/ 1039760 h 1974847"/>
                  <a:gd name="connsiteX5" fmla="*/ 684980 w 720646"/>
                  <a:gd name="connsiteY5" fmla="*/ 1974847 h 1974847"/>
                  <a:gd name="connsiteX6" fmla="*/ 720647 w 720646"/>
                  <a:gd name="connsiteY6" fmla="*/ 1960115 h 1974847"/>
                  <a:gd name="connsiteX7" fmla="*/ 48408 w 720646"/>
                  <a:gd name="connsiteY7" fmla="*/ 1018050 h 1974847"/>
                  <a:gd name="connsiteX8" fmla="*/ 48408 w 720646"/>
                  <a:gd name="connsiteY8" fmla="*/ 952920 h 197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646" h="1974847">
                    <a:moveTo>
                      <a:pt x="48408" y="952920"/>
                    </a:moveTo>
                    <a:lnTo>
                      <a:pt x="716770" y="14732"/>
                    </a:lnTo>
                    <a:lnTo>
                      <a:pt x="681879" y="0"/>
                    </a:lnTo>
                    <a:lnTo>
                      <a:pt x="17393" y="930434"/>
                    </a:lnTo>
                    <a:cubicBezTo>
                      <a:pt x="-5798" y="963186"/>
                      <a:pt x="-5798" y="1007009"/>
                      <a:pt x="17393" y="1039760"/>
                    </a:cubicBezTo>
                    <a:lnTo>
                      <a:pt x="684980" y="1974847"/>
                    </a:lnTo>
                    <a:lnTo>
                      <a:pt x="720647" y="1960115"/>
                    </a:lnTo>
                    <a:lnTo>
                      <a:pt x="48408" y="1018050"/>
                    </a:lnTo>
                    <a:cubicBezTo>
                      <a:pt x="34431" y="998589"/>
                      <a:pt x="34431" y="972382"/>
                      <a:pt x="48408" y="952920"/>
                    </a:cubicBezTo>
                    <a:close/>
                  </a:path>
                </a:pathLst>
              </a:custGeom>
              <a:solidFill>
                <a:schemeClr val="accent6"/>
              </a:solidFill>
              <a:ln w="77534"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26797ED9-FDC4-5AE9-6160-C6767571CE6E}"/>
                  </a:ext>
                </a:extLst>
              </p:cNvPr>
              <p:cNvSpPr/>
              <p:nvPr/>
            </p:nvSpPr>
            <p:spPr>
              <a:xfrm>
                <a:off x="8701991" y="2445064"/>
                <a:ext cx="722972" cy="1984151"/>
              </a:xfrm>
              <a:custGeom>
                <a:avLst/>
                <a:gdLst>
                  <a:gd name="connsiteX0" fmla="*/ 705579 w 722972"/>
                  <a:gd name="connsiteY0" fmla="*/ 935086 h 1984151"/>
                  <a:gd name="connsiteX1" fmla="*/ 38768 w 722972"/>
                  <a:gd name="connsiteY1" fmla="*/ 0 h 1984151"/>
                  <a:gd name="connsiteX2" fmla="*/ 3102 w 722972"/>
                  <a:gd name="connsiteY2" fmla="*/ 14732 h 1984151"/>
                  <a:gd name="connsiteX3" fmla="*/ 675340 w 722972"/>
                  <a:gd name="connsiteY3" fmla="*/ 957572 h 1984151"/>
                  <a:gd name="connsiteX4" fmla="*/ 675340 w 722972"/>
                  <a:gd name="connsiteY4" fmla="*/ 1022702 h 1984151"/>
                  <a:gd name="connsiteX5" fmla="*/ 0 w 722972"/>
                  <a:gd name="connsiteY5" fmla="*/ 1969419 h 1984151"/>
                  <a:gd name="connsiteX6" fmla="*/ 35667 w 722972"/>
                  <a:gd name="connsiteY6" fmla="*/ 1984151 h 1984151"/>
                  <a:gd name="connsiteX7" fmla="*/ 705579 w 722972"/>
                  <a:gd name="connsiteY7" fmla="*/ 1044412 h 1984151"/>
                  <a:gd name="connsiteX8" fmla="*/ 705579 w 722972"/>
                  <a:gd name="connsiteY8" fmla="*/ 935086 h 198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972" h="1984151">
                    <a:moveTo>
                      <a:pt x="705579" y="935086"/>
                    </a:moveTo>
                    <a:lnTo>
                      <a:pt x="38768" y="0"/>
                    </a:lnTo>
                    <a:lnTo>
                      <a:pt x="3102" y="14732"/>
                    </a:lnTo>
                    <a:lnTo>
                      <a:pt x="675340" y="957572"/>
                    </a:lnTo>
                    <a:cubicBezTo>
                      <a:pt x="689320" y="977034"/>
                      <a:pt x="689320" y="1003241"/>
                      <a:pt x="675340" y="1022702"/>
                    </a:cubicBezTo>
                    <a:lnTo>
                      <a:pt x="0" y="1969419"/>
                    </a:lnTo>
                    <a:lnTo>
                      <a:pt x="35667" y="1984151"/>
                    </a:lnTo>
                    <a:lnTo>
                      <a:pt x="705579" y="1044412"/>
                    </a:lnTo>
                    <a:cubicBezTo>
                      <a:pt x="728771" y="1011661"/>
                      <a:pt x="728771" y="967838"/>
                      <a:pt x="705579" y="935086"/>
                    </a:cubicBezTo>
                    <a:close/>
                  </a:path>
                </a:pathLst>
              </a:custGeom>
              <a:solidFill>
                <a:schemeClr val="accent2"/>
              </a:solidFill>
              <a:ln w="77534"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E9EA44B-9171-5A7F-2064-4DB37718A9DA}"/>
                  </a:ext>
                </a:extLst>
              </p:cNvPr>
              <p:cNvSpPr/>
              <p:nvPr/>
            </p:nvSpPr>
            <p:spPr>
              <a:xfrm>
                <a:off x="5112065" y="6031113"/>
                <a:ext cx="1978723" cy="723327"/>
              </a:xfrm>
              <a:custGeom>
                <a:avLst/>
                <a:gdLst>
                  <a:gd name="connsiteX0" fmla="*/ 1962441 w 1978723"/>
                  <a:gd name="connsiteY0" fmla="*/ 7754 h 723327"/>
                  <a:gd name="connsiteX1" fmla="*/ 1026579 w 1978723"/>
                  <a:gd name="connsiteY1" fmla="*/ 675340 h 723327"/>
                  <a:gd name="connsiteX2" fmla="*/ 961449 w 1978723"/>
                  <a:gd name="connsiteY2" fmla="*/ 675340 h 723327"/>
                  <a:gd name="connsiteX3" fmla="*/ 14732 w 1978723"/>
                  <a:gd name="connsiteY3" fmla="*/ 0 h 723327"/>
                  <a:gd name="connsiteX4" fmla="*/ 0 w 1978723"/>
                  <a:gd name="connsiteY4" fmla="*/ 35667 h 723327"/>
                  <a:gd name="connsiteX5" fmla="*/ 938963 w 1978723"/>
                  <a:gd name="connsiteY5" fmla="*/ 705580 h 723327"/>
                  <a:gd name="connsiteX6" fmla="*/ 1048289 w 1978723"/>
                  <a:gd name="connsiteY6" fmla="*/ 705580 h 723327"/>
                  <a:gd name="connsiteX7" fmla="*/ 1978724 w 1978723"/>
                  <a:gd name="connsiteY7" fmla="*/ 43421 h 723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8723" h="723327">
                    <a:moveTo>
                      <a:pt x="1962441" y="7754"/>
                    </a:moveTo>
                    <a:lnTo>
                      <a:pt x="1026579" y="675340"/>
                    </a:lnTo>
                    <a:cubicBezTo>
                      <a:pt x="1006970" y="688855"/>
                      <a:pt x="981058" y="688855"/>
                      <a:pt x="961449" y="675340"/>
                    </a:cubicBezTo>
                    <a:lnTo>
                      <a:pt x="14732" y="0"/>
                    </a:lnTo>
                    <a:lnTo>
                      <a:pt x="0" y="35667"/>
                    </a:lnTo>
                    <a:lnTo>
                      <a:pt x="938963" y="705580"/>
                    </a:lnTo>
                    <a:cubicBezTo>
                      <a:pt x="971560" y="729244"/>
                      <a:pt x="1015693" y="729244"/>
                      <a:pt x="1048289" y="705580"/>
                    </a:cubicBezTo>
                    <a:lnTo>
                      <a:pt x="1978724" y="43421"/>
                    </a:lnTo>
                    <a:close/>
                  </a:path>
                </a:pathLst>
              </a:custGeom>
              <a:solidFill>
                <a:schemeClr val="accent4"/>
              </a:solidFill>
              <a:ln w="77534"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BDE24C5F-C722-4407-FAA7-633D35EF0A7C}"/>
                  </a:ext>
                </a:extLst>
              </p:cNvPr>
              <p:cNvSpPr/>
              <p:nvPr/>
            </p:nvSpPr>
            <p:spPr>
              <a:xfrm>
                <a:off x="7246636" y="4588940"/>
                <a:ext cx="1421238" cy="1410383"/>
              </a:xfrm>
              <a:custGeom>
                <a:avLst/>
                <a:gdLst>
                  <a:gd name="connsiteX0" fmla="*/ 1385572 w 1421238"/>
                  <a:gd name="connsiteY0" fmla="*/ 0 h 1410383"/>
                  <a:gd name="connsiteX1" fmla="*/ 1195609 w 1421238"/>
                  <a:gd name="connsiteY1" fmla="*/ 1135905 h 1410383"/>
                  <a:gd name="connsiteX2" fmla="*/ 1149087 w 1421238"/>
                  <a:gd name="connsiteY2" fmla="*/ 1182427 h 1410383"/>
                  <a:gd name="connsiteX3" fmla="*/ 0 w 1421238"/>
                  <a:gd name="connsiteY3" fmla="*/ 1374717 h 1410383"/>
                  <a:gd name="connsiteX4" fmla="*/ 14732 w 1421238"/>
                  <a:gd name="connsiteY4" fmla="*/ 1410384 h 1410383"/>
                  <a:gd name="connsiteX5" fmla="*/ 1155290 w 1421238"/>
                  <a:gd name="connsiteY5" fmla="*/ 1219645 h 1410383"/>
                  <a:gd name="connsiteX6" fmla="*/ 1232826 w 1421238"/>
                  <a:gd name="connsiteY6" fmla="*/ 1142109 h 1410383"/>
                  <a:gd name="connsiteX7" fmla="*/ 1421239 w 1421238"/>
                  <a:gd name="connsiteY7" fmla="*/ 14732 h 141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1238" h="1410383">
                    <a:moveTo>
                      <a:pt x="1385572" y="0"/>
                    </a:moveTo>
                    <a:lnTo>
                      <a:pt x="1195609" y="1135905"/>
                    </a:lnTo>
                    <a:cubicBezTo>
                      <a:pt x="1191856" y="1159872"/>
                      <a:pt x="1173053" y="1178674"/>
                      <a:pt x="1149087" y="1182427"/>
                    </a:cubicBezTo>
                    <a:lnTo>
                      <a:pt x="0" y="1374717"/>
                    </a:lnTo>
                    <a:lnTo>
                      <a:pt x="14732" y="1410384"/>
                    </a:lnTo>
                    <a:lnTo>
                      <a:pt x="1155290" y="1219645"/>
                    </a:lnTo>
                    <a:cubicBezTo>
                      <a:pt x="1194895" y="1212728"/>
                      <a:pt x="1225910" y="1181714"/>
                      <a:pt x="1232826" y="1142109"/>
                    </a:cubicBezTo>
                    <a:lnTo>
                      <a:pt x="1421239" y="14732"/>
                    </a:lnTo>
                    <a:close/>
                  </a:path>
                </a:pathLst>
              </a:custGeom>
              <a:solidFill>
                <a:schemeClr val="accent3"/>
              </a:solidFill>
              <a:ln w="77534"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C2D5B2E3-D93D-CF29-9074-E66BE62282A4}"/>
                  </a:ext>
                </a:extLst>
              </p:cNvPr>
              <p:cNvSpPr/>
              <p:nvPr/>
            </p:nvSpPr>
            <p:spPr>
              <a:xfrm>
                <a:off x="3542732" y="4583512"/>
                <a:ext cx="1409608" cy="1413485"/>
              </a:xfrm>
              <a:custGeom>
                <a:avLst/>
                <a:gdLst>
                  <a:gd name="connsiteX0" fmla="*/ 1409608 w 1409608"/>
                  <a:gd name="connsiteY0" fmla="*/ 1377819 h 1413485"/>
                  <a:gd name="connsiteX1" fmla="*/ 272927 w 1409608"/>
                  <a:gd name="connsiteY1" fmla="*/ 1187855 h 1413485"/>
                  <a:gd name="connsiteX2" fmla="*/ 227181 w 1409608"/>
                  <a:gd name="connsiteY2" fmla="*/ 1141333 h 1413485"/>
                  <a:gd name="connsiteX3" fmla="*/ 35667 w 1409608"/>
                  <a:gd name="connsiteY3" fmla="*/ 0 h 1413485"/>
                  <a:gd name="connsiteX4" fmla="*/ 0 w 1409608"/>
                  <a:gd name="connsiteY4" fmla="*/ 14732 h 1413485"/>
                  <a:gd name="connsiteX5" fmla="*/ 189964 w 1409608"/>
                  <a:gd name="connsiteY5" fmla="*/ 1147536 h 1413485"/>
                  <a:gd name="connsiteX6" fmla="*/ 267500 w 1409608"/>
                  <a:gd name="connsiteY6" fmla="*/ 1225072 h 1413485"/>
                  <a:gd name="connsiteX7" fmla="*/ 1395652 w 1409608"/>
                  <a:gd name="connsiteY7" fmla="*/ 1413485 h 141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9608" h="1413485">
                    <a:moveTo>
                      <a:pt x="1409608" y="1377819"/>
                    </a:moveTo>
                    <a:lnTo>
                      <a:pt x="272927" y="1187855"/>
                    </a:lnTo>
                    <a:cubicBezTo>
                      <a:pt x="249263" y="1183799"/>
                      <a:pt x="230841" y="1165067"/>
                      <a:pt x="227181" y="1141333"/>
                    </a:cubicBezTo>
                    <a:lnTo>
                      <a:pt x="35667" y="0"/>
                    </a:lnTo>
                    <a:lnTo>
                      <a:pt x="0" y="14732"/>
                    </a:lnTo>
                    <a:lnTo>
                      <a:pt x="189964" y="1147536"/>
                    </a:lnTo>
                    <a:cubicBezTo>
                      <a:pt x="196446" y="1187366"/>
                      <a:pt x="227670" y="1218590"/>
                      <a:pt x="267500" y="1225072"/>
                    </a:cubicBezTo>
                    <a:lnTo>
                      <a:pt x="1395652" y="1413485"/>
                    </a:lnTo>
                    <a:close/>
                  </a:path>
                </a:pathLst>
              </a:custGeom>
              <a:solidFill>
                <a:schemeClr val="accent5"/>
              </a:solidFill>
              <a:ln w="77534"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05BA77C6-7296-D0D9-AA3C-FDF776643A7C}"/>
                  </a:ext>
                </a:extLst>
              </p:cNvPr>
              <p:cNvSpPr/>
              <p:nvPr/>
            </p:nvSpPr>
            <p:spPr>
              <a:xfrm>
                <a:off x="3541957" y="873405"/>
                <a:ext cx="1408057" cy="1418137"/>
              </a:xfrm>
              <a:custGeom>
                <a:avLst/>
                <a:gdLst>
                  <a:gd name="connsiteX0" fmla="*/ 35667 w 1408057"/>
                  <a:gd name="connsiteY0" fmla="*/ 1418137 h 1418137"/>
                  <a:gd name="connsiteX1" fmla="*/ 227956 w 1408057"/>
                  <a:gd name="connsiteY1" fmla="*/ 268275 h 1418137"/>
                  <a:gd name="connsiteX2" fmla="*/ 273703 w 1408057"/>
                  <a:gd name="connsiteY2" fmla="*/ 222529 h 1418137"/>
                  <a:gd name="connsiteX3" fmla="*/ 1408058 w 1408057"/>
                  <a:gd name="connsiteY3" fmla="*/ 35667 h 1418137"/>
                  <a:gd name="connsiteX4" fmla="*/ 1391000 w 1408057"/>
                  <a:gd name="connsiteY4" fmla="*/ 0 h 1418137"/>
                  <a:gd name="connsiteX5" fmla="*/ 267500 w 1408057"/>
                  <a:gd name="connsiteY5" fmla="*/ 190739 h 1418137"/>
                  <a:gd name="connsiteX6" fmla="*/ 189964 w 1408057"/>
                  <a:gd name="connsiteY6" fmla="*/ 268275 h 1418137"/>
                  <a:gd name="connsiteX7" fmla="*/ 0 w 1408057"/>
                  <a:gd name="connsiteY7" fmla="*/ 1403405 h 141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8057" h="1418137">
                    <a:moveTo>
                      <a:pt x="35667" y="1418137"/>
                    </a:moveTo>
                    <a:lnTo>
                      <a:pt x="227956" y="268275"/>
                    </a:lnTo>
                    <a:cubicBezTo>
                      <a:pt x="231919" y="244844"/>
                      <a:pt x="250271" y="226491"/>
                      <a:pt x="273703" y="222529"/>
                    </a:cubicBezTo>
                    <a:lnTo>
                      <a:pt x="1408058" y="35667"/>
                    </a:lnTo>
                    <a:lnTo>
                      <a:pt x="1391000" y="0"/>
                    </a:lnTo>
                    <a:lnTo>
                      <a:pt x="267500" y="190739"/>
                    </a:lnTo>
                    <a:cubicBezTo>
                      <a:pt x="227437" y="196756"/>
                      <a:pt x="195981" y="228212"/>
                      <a:pt x="189964" y="268275"/>
                    </a:cubicBezTo>
                    <a:lnTo>
                      <a:pt x="0" y="1403405"/>
                    </a:lnTo>
                    <a:close/>
                  </a:path>
                </a:pathLst>
              </a:custGeom>
              <a:solidFill>
                <a:schemeClr val="bg2"/>
              </a:solidFill>
              <a:ln w="77534"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5B6F2A5B-3F46-EA3F-6392-8D372BF7757F}"/>
                  </a:ext>
                </a:extLst>
              </p:cNvPr>
              <p:cNvSpPr/>
              <p:nvPr/>
            </p:nvSpPr>
            <p:spPr>
              <a:xfrm>
                <a:off x="7248963" y="871079"/>
                <a:ext cx="1419687" cy="1417361"/>
              </a:xfrm>
              <a:custGeom>
                <a:avLst/>
                <a:gdLst>
                  <a:gd name="connsiteX0" fmla="*/ 0 w 1419687"/>
                  <a:gd name="connsiteY0" fmla="*/ 37993 h 1417361"/>
                  <a:gd name="connsiteX1" fmla="*/ 1146761 w 1419687"/>
                  <a:gd name="connsiteY1" fmla="*/ 230282 h 1417361"/>
                  <a:gd name="connsiteX2" fmla="*/ 1193282 w 1419687"/>
                  <a:gd name="connsiteY2" fmla="*/ 276029 h 1417361"/>
                  <a:gd name="connsiteX3" fmla="*/ 1384021 w 1419687"/>
                  <a:gd name="connsiteY3" fmla="*/ 1417362 h 1417361"/>
                  <a:gd name="connsiteX4" fmla="*/ 1419688 w 1419687"/>
                  <a:gd name="connsiteY4" fmla="*/ 1402630 h 1417361"/>
                  <a:gd name="connsiteX5" fmla="*/ 1230499 w 1419687"/>
                  <a:gd name="connsiteY5" fmla="*/ 270601 h 1417361"/>
                  <a:gd name="connsiteX6" fmla="*/ 1152963 w 1419687"/>
                  <a:gd name="connsiteY6" fmla="*/ 193065 h 1417361"/>
                  <a:gd name="connsiteX7" fmla="*/ 14731 w 1419687"/>
                  <a:gd name="connsiteY7" fmla="*/ 0 h 1417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9687" h="1417361">
                    <a:moveTo>
                      <a:pt x="0" y="37993"/>
                    </a:moveTo>
                    <a:lnTo>
                      <a:pt x="1146761" y="230282"/>
                    </a:lnTo>
                    <a:cubicBezTo>
                      <a:pt x="1170494" y="233942"/>
                      <a:pt x="1189227" y="252365"/>
                      <a:pt x="1193282" y="276029"/>
                    </a:cubicBezTo>
                    <a:lnTo>
                      <a:pt x="1384021" y="1417362"/>
                    </a:lnTo>
                    <a:lnTo>
                      <a:pt x="1419688" y="1402630"/>
                    </a:lnTo>
                    <a:lnTo>
                      <a:pt x="1230499" y="270601"/>
                    </a:lnTo>
                    <a:cubicBezTo>
                      <a:pt x="1224018" y="230771"/>
                      <a:pt x="1192794" y="199547"/>
                      <a:pt x="1152963" y="193065"/>
                    </a:cubicBezTo>
                    <a:lnTo>
                      <a:pt x="14731" y="0"/>
                    </a:lnTo>
                    <a:close/>
                  </a:path>
                </a:pathLst>
              </a:custGeom>
              <a:solidFill>
                <a:schemeClr val="accent1"/>
              </a:solidFill>
              <a:ln w="77534"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0E37B3D2-0992-ADD5-5341-4F5B496BA870}"/>
                  </a:ext>
                </a:extLst>
              </p:cNvPr>
              <p:cNvSpPr/>
              <p:nvPr/>
            </p:nvSpPr>
            <p:spPr>
              <a:xfrm>
                <a:off x="5109739" y="116824"/>
                <a:ext cx="1981050" cy="723241"/>
              </a:xfrm>
              <a:custGeom>
                <a:avLst/>
                <a:gdLst>
                  <a:gd name="connsiteX0" fmla="*/ 14732 w 1981050"/>
                  <a:gd name="connsiteY0" fmla="*/ 723241 h 723241"/>
                  <a:gd name="connsiteX1" fmla="*/ 963775 w 1981050"/>
                  <a:gd name="connsiteY1" fmla="*/ 47125 h 723241"/>
                  <a:gd name="connsiteX2" fmla="*/ 1028905 w 1981050"/>
                  <a:gd name="connsiteY2" fmla="*/ 47125 h 723241"/>
                  <a:gd name="connsiteX3" fmla="*/ 1966318 w 1981050"/>
                  <a:gd name="connsiteY3" fmla="*/ 714712 h 723241"/>
                  <a:gd name="connsiteX4" fmla="*/ 1981050 w 1981050"/>
                  <a:gd name="connsiteY4" fmla="*/ 679045 h 723241"/>
                  <a:gd name="connsiteX5" fmla="*/ 1050616 w 1981050"/>
                  <a:gd name="connsiteY5" fmla="*/ 16886 h 723241"/>
                  <a:gd name="connsiteX6" fmla="*/ 941289 w 1981050"/>
                  <a:gd name="connsiteY6" fmla="*/ 16886 h 723241"/>
                  <a:gd name="connsiteX7" fmla="*/ 0 w 1981050"/>
                  <a:gd name="connsiteY7" fmla="*/ 687574 h 723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1050" h="723241">
                    <a:moveTo>
                      <a:pt x="14732" y="723241"/>
                    </a:moveTo>
                    <a:lnTo>
                      <a:pt x="963775" y="47125"/>
                    </a:lnTo>
                    <a:cubicBezTo>
                      <a:pt x="983237" y="33149"/>
                      <a:pt x="1009444" y="33149"/>
                      <a:pt x="1028905" y="47125"/>
                    </a:cubicBezTo>
                    <a:lnTo>
                      <a:pt x="1966318" y="714712"/>
                    </a:lnTo>
                    <a:lnTo>
                      <a:pt x="1981050" y="679045"/>
                    </a:lnTo>
                    <a:lnTo>
                      <a:pt x="1050616" y="16886"/>
                    </a:lnTo>
                    <a:cubicBezTo>
                      <a:pt x="1017655" y="-5629"/>
                      <a:pt x="974258" y="-5629"/>
                      <a:pt x="941289" y="16886"/>
                    </a:cubicBezTo>
                    <a:lnTo>
                      <a:pt x="0" y="687574"/>
                    </a:lnTo>
                    <a:close/>
                  </a:path>
                </a:pathLst>
              </a:custGeom>
              <a:solidFill>
                <a:schemeClr val="tx2"/>
              </a:solidFill>
              <a:ln w="7753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9EB1E5B1-D5A2-175C-C0B0-E10DC7BE20B3}"/>
                  </a:ext>
                </a:extLst>
              </p:cNvPr>
              <p:cNvSpPr/>
              <p:nvPr/>
            </p:nvSpPr>
            <p:spPr>
              <a:xfrm>
                <a:off x="3622595" y="955594"/>
                <a:ext cx="1940731" cy="1936854"/>
              </a:xfrm>
              <a:custGeom>
                <a:avLst/>
                <a:gdLst>
                  <a:gd name="connsiteX0" fmla="*/ 202369 w 1940731"/>
                  <a:gd name="connsiteY0" fmla="*/ 198493 h 1936854"/>
                  <a:gd name="connsiteX1" fmla="*/ 0 w 1940731"/>
                  <a:gd name="connsiteY1" fmla="*/ 1410384 h 1936854"/>
                  <a:gd name="connsiteX2" fmla="*/ 1271594 w 1940731"/>
                  <a:gd name="connsiteY2" fmla="*/ 1936854 h 1936854"/>
                  <a:gd name="connsiteX3" fmla="*/ 1940731 w 1940731"/>
                  <a:gd name="connsiteY3" fmla="*/ 1271594 h 1936854"/>
                  <a:gd name="connsiteX4" fmla="*/ 1414260 w 1940731"/>
                  <a:gd name="connsiteY4" fmla="*/ 0 h 1936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0731" h="1936854">
                    <a:moveTo>
                      <a:pt x="202369" y="198493"/>
                    </a:moveTo>
                    <a:lnTo>
                      <a:pt x="0" y="1410384"/>
                    </a:lnTo>
                    <a:lnTo>
                      <a:pt x="1271594" y="1936854"/>
                    </a:lnTo>
                    <a:cubicBezTo>
                      <a:pt x="1404909" y="1640131"/>
                      <a:pt x="1643240" y="1403180"/>
                      <a:pt x="1940731" y="1271594"/>
                    </a:cubicBezTo>
                    <a:lnTo>
                      <a:pt x="1414260" y="0"/>
                    </a:lnTo>
                    <a:close/>
                  </a:path>
                </a:pathLst>
              </a:custGeom>
              <a:solidFill>
                <a:schemeClr val="bg2"/>
              </a:solidFill>
              <a:ln w="77534"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595455F3-3C35-F72E-9D5E-F6D06B8AEB91}"/>
                  </a:ext>
                </a:extLst>
              </p:cNvPr>
              <p:cNvSpPr/>
              <p:nvPr/>
            </p:nvSpPr>
            <p:spPr>
              <a:xfrm>
                <a:off x="6648833" y="3977955"/>
                <a:ext cx="1940731" cy="1940730"/>
              </a:xfrm>
              <a:custGeom>
                <a:avLst/>
                <a:gdLst>
                  <a:gd name="connsiteX0" fmla="*/ 1940731 w 1940731"/>
                  <a:gd name="connsiteY0" fmla="*/ 526471 h 1940730"/>
                  <a:gd name="connsiteX1" fmla="*/ 669138 w 1940731"/>
                  <a:gd name="connsiteY1" fmla="*/ 0 h 1940730"/>
                  <a:gd name="connsiteX2" fmla="*/ 0 w 1940731"/>
                  <a:gd name="connsiteY2" fmla="*/ 669137 h 1940730"/>
                  <a:gd name="connsiteX3" fmla="*/ 526471 w 1940731"/>
                  <a:gd name="connsiteY3" fmla="*/ 1940731 h 1940730"/>
                  <a:gd name="connsiteX4" fmla="*/ 1737586 w 1940731"/>
                  <a:gd name="connsiteY4" fmla="*/ 1738361 h 194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0731" h="1940730">
                    <a:moveTo>
                      <a:pt x="1940731" y="526471"/>
                    </a:moveTo>
                    <a:lnTo>
                      <a:pt x="669138" y="0"/>
                    </a:lnTo>
                    <a:cubicBezTo>
                      <a:pt x="535628" y="297506"/>
                      <a:pt x="297506" y="535628"/>
                      <a:pt x="0" y="669137"/>
                    </a:cubicBezTo>
                    <a:lnTo>
                      <a:pt x="526471" y="1940731"/>
                    </a:lnTo>
                    <a:lnTo>
                      <a:pt x="1737586" y="1738361"/>
                    </a:lnTo>
                    <a:close/>
                  </a:path>
                </a:pathLst>
              </a:custGeom>
              <a:solidFill>
                <a:schemeClr val="accent3"/>
              </a:solidFill>
              <a:ln w="77534"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255C5DB2-86CA-EC4D-E380-5312371D6B56}"/>
                  </a:ext>
                </a:extLst>
              </p:cNvPr>
              <p:cNvSpPr/>
              <p:nvPr/>
            </p:nvSpPr>
            <p:spPr>
              <a:xfrm>
                <a:off x="2880573" y="2434984"/>
                <a:ext cx="1984926" cy="1999658"/>
              </a:xfrm>
              <a:custGeom>
                <a:avLst/>
                <a:gdLst>
                  <a:gd name="connsiteX0" fmla="*/ 0 w 1984926"/>
                  <a:gd name="connsiteY0" fmla="*/ 1000217 h 1999658"/>
                  <a:gd name="connsiteX1" fmla="*/ 713333 w 1984926"/>
                  <a:gd name="connsiteY1" fmla="*/ 1999659 h 1999658"/>
                  <a:gd name="connsiteX2" fmla="*/ 1984927 w 1984926"/>
                  <a:gd name="connsiteY2" fmla="*/ 1473188 h 1999658"/>
                  <a:gd name="connsiteX3" fmla="*/ 1984927 w 1984926"/>
                  <a:gd name="connsiteY3" fmla="*/ 526471 h 1999658"/>
                  <a:gd name="connsiteX4" fmla="*/ 713333 w 1984926"/>
                  <a:gd name="connsiteY4" fmla="*/ 0 h 1999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4926" h="1999658">
                    <a:moveTo>
                      <a:pt x="0" y="1000217"/>
                    </a:moveTo>
                    <a:lnTo>
                      <a:pt x="713333" y="1999659"/>
                    </a:lnTo>
                    <a:lnTo>
                      <a:pt x="1984927" y="1473188"/>
                    </a:lnTo>
                    <a:cubicBezTo>
                      <a:pt x="1868204" y="1168408"/>
                      <a:pt x="1868204" y="831250"/>
                      <a:pt x="1984927" y="526471"/>
                    </a:cubicBezTo>
                    <a:lnTo>
                      <a:pt x="713333" y="0"/>
                    </a:lnTo>
                    <a:close/>
                  </a:path>
                </a:pathLst>
              </a:custGeom>
              <a:solidFill>
                <a:schemeClr val="accent6"/>
              </a:solidFill>
              <a:ln w="77534"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84BBE98-EC9C-CCA6-A611-96DA8DFC0939}"/>
                  </a:ext>
                </a:extLst>
              </p:cNvPr>
              <p:cNvSpPr/>
              <p:nvPr/>
            </p:nvSpPr>
            <p:spPr>
              <a:xfrm>
                <a:off x="7346658" y="2434984"/>
                <a:ext cx="1984927" cy="1999658"/>
              </a:xfrm>
              <a:custGeom>
                <a:avLst/>
                <a:gdLst>
                  <a:gd name="connsiteX0" fmla="*/ 1271594 w 1984927"/>
                  <a:gd name="connsiteY0" fmla="*/ 0 h 1999658"/>
                  <a:gd name="connsiteX1" fmla="*/ 0 w 1984927"/>
                  <a:gd name="connsiteY1" fmla="*/ 526471 h 1999658"/>
                  <a:gd name="connsiteX2" fmla="*/ 0 w 1984927"/>
                  <a:gd name="connsiteY2" fmla="*/ 1473188 h 1999658"/>
                  <a:gd name="connsiteX3" fmla="*/ 1271594 w 1984927"/>
                  <a:gd name="connsiteY3" fmla="*/ 1999659 h 1999658"/>
                  <a:gd name="connsiteX4" fmla="*/ 1984927 w 1984927"/>
                  <a:gd name="connsiteY4" fmla="*/ 1000217 h 1999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4927" h="1999658">
                    <a:moveTo>
                      <a:pt x="1271594" y="0"/>
                    </a:moveTo>
                    <a:lnTo>
                      <a:pt x="0" y="526471"/>
                    </a:lnTo>
                    <a:cubicBezTo>
                      <a:pt x="116359" y="831320"/>
                      <a:pt x="116359" y="1168339"/>
                      <a:pt x="0" y="1473188"/>
                    </a:cubicBezTo>
                    <a:lnTo>
                      <a:pt x="1271594" y="1999659"/>
                    </a:lnTo>
                    <a:lnTo>
                      <a:pt x="1984927" y="1000217"/>
                    </a:lnTo>
                    <a:close/>
                  </a:path>
                </a:pathLst>
              </a:custGeom>
              <a:solidFill>
                <a:schemeClr val="accent2"/>
              </a:solidFill>
              <a:ln w="77534"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8C888E51-40A3-F0DB-0CFC-F1FD2D2BCA95}"/>
                  </a:ext>
                </a:extLst>
              </p:cNvPr>
              <p:cNvSpPr/>
              <p:nvPr/>
            </p:nvSpPr>
            <p:spPr>
              <a:xfrm>
                <a:off x="3622595" y="3977955"/>
                <a:ext cx="1940731" cy="1940730"/>
              </a:xfrm>
              <a:custGeom>
                <a:avLst/>
                <a:gdLst>
                  <a:gd name="connsiteX0" fmla="*/ 1414260 w 1940731"/>
                  <a:gd name="connsiteY0" fmla="*/ 1940731 h 1940730"/>
                  <a:gd name="connsiteX1" fmla="*/ 1940731 w 1940731"/>
                  <a:gd name="connsiteY1" fmla="*/ 669137 h 1940730"/>
                  <a:gd name="connsiteX2" fmla="*/ 1271594 w 1940731"/>
                  <a:gd name="connsiteY2" fmla="*/ 0 h 1940730"/>
                  <a:gd name="connsiteX3" fmla="*/ 0 w 1940731"/>
                  <a:gd name="connsiteY3" fmla="*/ 526471 h 1940730"/>
                  <a:gd name="connsiteX4" fmla="*/ 202369 w 1940731"/>
                  <a:gd name="connsiteY4" fmla="*/ 1738361 h 194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0731" h="1940730">
                    <a:moveTo>
                      <a:pt x="1414260" y="1940731"/>
                    </a:moveTo>
                    <a:lnTo>
                      <a:pt x="1940731" y="669137"/>
                    </a:lnTo>
                    <a:cubicBezTo>
                      <a:pt x="1642891" y="536116"/>
                      <a:pt x="1404615" y="297840"/>
                      <a:pt x="1271594" y="0"/>
                    </a:cubicBezTo>
                    <a:lnTo>
                      <a:pt x="0" y="526471"/>
                    </a:lnTo>
                    <a:lnTo>
                      <a:pt x="202369" y="1738361"/>
                    </a:lnTo>
                    <a:close/>
                  </a:path>
                </a:pathLst>
              </a:custGeom>
              <a:solidFill>
                <a:schemeClr val="accent5"/>
              </a:solidFill>
              <a:ln w="77534"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8D2407C4-3CAF-6984-75B8-36FFC6EA21A1}"/>
                  </a:ext>
                </a:extLst>
              </p:cNvPr>
              <p:cNvSpPr/>
              <p:nvPr/>
            </p:nvSpPr>
            <p:spPr>
              <a:xfrm>
                <a:off x="5105862" y="4677332"/>
                <a:ext cx="1998108" cy="1984926"/>
              </a:xfrm>
              <a:custGeom>
                <a:avLst/>
                <a:gdLst>
                  <a:gd name="connsiteX0" fmla="*/ 1998108 w 1998107"/>
                  <a:gd name="connsiteY0" fmla="*/ 1271594 h 1984926"/>
                  <a:gd name="connsiteX1" fmla="*/ 1471637 w 1998107"/>
                  <a:gd name="connsiteY1" fmla="*/ 0 h 1984926"/>
                  <a:gd name="connsiteX2" fmla="*/ 524920 w 1998107"/>
                  <a:gd name="connsiteY2" fmla="*/ 0 h 1984926"/>
                  <a:gd name="connsiteX3" fmla="*/ 0 w 1998107"/>
                  <a:gd name="connsiteY3" fmla="*/ 1271594 h 1984926"/>
                  <a:gd name="connsiteX4" fmla="*/ 1000217 w 1998107"/>
                  <a:gd name="connsiteY4" fmla="*/ 1984927 h 1984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107" h="1984926">
                    <a:moveTo>
                      <a:pt x="1998108" y="1271594"/>
                    </a:moveTo>
                    <a:lnTo>
                      <a:pt x="1471637" y="0"/>
                    </a:lnTo>
                    <a:cubicBezTo>
                      <a:pt x="1166788" y="116359"/>
                      <a:pt x="829769" y="116359"/>
                      <a:pt x="524920" y="0"/>
                    </a:cubicBezTo>
                    <a:lnTo>
                      <a:pt x="0" y="1271594"/>
                    </a:lnTo>
                    <a:lnTo>
                      <a:pt x="1000217" y="1984927"/>
                    </a:lnTo>
                    <a:close/>
                  </a:path>
                </a:pathLst>
              </a:custGeom>
              <a:solidFill>
                <a:schemeClr val="accent4"/>
              </a:solidFill>
              <a:ln w="77534"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73EBF1B7-2B57-EC93-2F84-FE6E0425BD3B}"/>
                  </a:ext>
                </a:extLst>
              </p:cNvPr>
              <p:cNvSpPr/>
              <p:nvPr/>
            </p:nvSpPr>
            <p:spPr>
              <a:xfrm>
                <a:off x="6648833" y="951717"/>
                <a:ext cx="1940731" cy="1944607"/>
              </a:xfrm>
              <a:custGeom>
                <a:avLst/>
                <a:gdLst>
                  <a:gd name="connsiteX0" fmla="*/ 526471 w 1940731"/>
                  <a:gd name="connsiteY0" fmla="*/ 0 h 1944607"/>
                  <a:gd name="connsiteX1" fmla="*/ 0 w 1940731"/>
                  <a:gd name="connsiteY1" fmla="*/ 1275471 h 1944607"/>
                  <a:gd name="connsiteX2" fmla="*/ 669138 w 1940731"/>
                  <a:gd name="connsiteY2" fmla="*/ 1944608 h 1944607"/>
                  <a:gd name="connsiteX3" fmla="*/ 1940731 w 1940731"/>
                  <a:gd name="connsiteY3" fmla="*/ 1418137 h 1944607"/>
                  <a:gd name="connsiteX4" fmla="*/ 1737586 w 1940731"/>
                  <a:gd name="connsiteY4" fmla="*/ 202370 h 1944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0731" h="1944607">
                    <a:moveTo>
                      <a:pt x="526471" y="0"/>
                    </a:moveTo>
                    <a:lnTo>
                      <a:pt x="0" y="1275471"/>
                    </a:lnTo>
                    <a:cubicBezTo>
                      <a:pt x="297840" y="1408492"/>
                      <a:pt x="536116" y="1646768"/>
                      <a:pt x="669138" y="1944608"/>
                    </a:cubicBezTo>
                    <a:lnTo>
                      <a:pt x="1940731" y="1418137"/>
                    </a:lnTo>
                    <a:lnTo>
                      <a:pt x="1737586" y="202370"/>
                    </a:lnTo>
                    <a:close/>
                  </a:path>
                </a:pathLst>
              </a:custGeom>
              <a:solidFill>
                <a:schemeClr val="accent1"/>
              </a:solidFill>
              <a:ln w="77534"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AF13C487-0C71-3ABA-257B-B0B0671DE267}"/>
                  </a:ext>
                </a:extLst>
              </p:cNvPr>
              <p:cNvSpPr/>
              <p:nvPr/>
            </p:nvSpPr>
            <p:spPr>
              <a:xfrm>
                <a:off x="5105862" y="211246"/>
                <a:ext cx="1998107" cy="1983376"/>
              </a:xfrm>
              <a:custGeom>
                <a:avLst/>
                <a:gdLst>
                  <a:gd name="connsiteX0" fmla="*/ 1000217 w 1998107"/>
                  <a:gd name="connsiteY0" fmla="*/ 0 h 1983376"/>
                  <a:gd name="connsiteX1" fmla="*/ 0 w 1998107"/>
                  <a:gd name="connsiteY1" fmla="*/ 713333 h 1983376"/>
                  <a:gd name="connsiteX2" fmla="*/ 524920 w 1998107"/>
                  <a:gd name="connsiteY2" fmla="*/ 1983376 h 1983376"/>
                  <a:gd name="connsiteX3" fmla="*/ 1470862 w 1998107"/>
                  <a:gd name="connsiteY3" fmla="*/ 1983376 h 1983376"/>
                  <a:gd name="connsiteX4" fmla="*/ 1998108 w 1998107"/>
                  <a:gd name="connsiteY4" fmla="*/ 711782 h 198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107" h="1983376">
                    <a:moveTo>
                      <a:pt x="1000217" y="0"/>
                    </a:moveTo>
                    <a:lnTo>
                      <a:pt x="0" y="713333"/>
                    </a:lnTo>
                    <a:lnTo>
                      <a:pt x="524920" y="1983376"/>
                    </a:lnTo>
                    <a:cubicBezTo>
                      <a:pt x="829374" y="1866335"/>
                      <a:pt x="1166408" y="1866335"/>
                      <a:pt x="1470862" y="1983376"/>
                    </a:cubicBezTo>
                    <a:lnTo>
                      <a:pt x="1998108" y="711782"/>
                    </a:lnTo>
                    <a:close/>
                  </a:path>
                </a:pathLst>
              </a:custGeom>
              <a:solidFill>
                <a:schemeClr val="tx2"/>
              </a:solidFill>
              <a:ln w="77534" cap="flat">
                <a:noFill/>
                <a:prstDash val="solid"/>
                <a:miter/>
              </a:ln>
            </p:spPr>
            <p:txBody>
              <a:bodyPr rtlCol="0" anchor="ctr"/>
              <a:lstStyle/>
              <a:p>
                <a:endParaRPr lang="en-IN"/>
              </a:p>
            </p:txBody>
          </p:sp>
          <p:grpSp>
            <p:nvGrpSpPr>
              <p:cNvPr id="35" name="Graphic 5">
                <a:extLst>
                  <a:ext uri="{FF2B5EF4-FFF2-40B4-BE49-F238E27FC236}">
                    <a16:creationId xmlns:a16="http://schemas.microsoft.com/office/drawing/2014/main" id="{D3CA7BF8-4A17-839E-B322-72831E402740}"/>
                  </a:ext>
                </a:extLst>
              </p:cNvPr>
              <p:cNvGrpSpPr/>
              <p:nvPr/>
            </p:nvGrpSpPr>
            <p:grpSpPr>
              <a:xfrm>
                <a:off x="4452705" y="1781961"/>
                <a:ext cx="3306292" cy="3306118"/>
                <a:chOff x="4452705" y="1781961"/>
                <a:chExt cx="3306292" cy="3306118"/>
              </a:xfrm>
              <a:solidFill>
                <a:srgbClr val="808080"/>
              </a:solidFill>
            </p:grpSpPr>
            <p:sp>
              <p:nvSpPr>
                <p:cNvPr id="45" name="Freeform: Shape 44">
                  <a:extLst>
                    <a:ext uri="{FF2B5EF4-FFF2-40B4-BE49-F238E27FC236}">
                      <a16:creationId xmlns:a16="http://schemas.microsoft.com/office/drawing/2014/main" id="{16A7DC53-E720-2701-46F5-9E73D34E1D3A}"/>
                    </a:ext>
                  </a:extLst>
                </p:cNvPr>
                <p:cNvSpPr/>
                <p:nvPr/>
              </p:nvSpPr>
              <p:spPr>
                <a:xfrm>
                  <a:off x="4452705" y="2837397"/>
                  <a:ext cx="412795" cy="1194832"/>
                </a:xfrm>
                <a:custGeom>
                  <a:avLst/>
                  <a:gdLst>
                    <a:gd name="connsiteX0" fmla="*/ 412795 w 412795"/>
                    <a:gd name="connsiteY0" fmla="*/ 1070775 h 1194832"/>
                    <a:gd name="connsiteX1" fmla="*/ 412795 w 412795"/>
                    <a:gd name="connsiteY1" fmla="*/ 124058 h 1194832"/>
                    <a:gd name="connsiteX2" fmla="*/ 111954 w 412795"/>
                    <a:gd name="connsiteY2" fmla="*/ 0 h 1194832"/>
                    <a:gd name="connsiteX3" fmla="*/ 111954 w 412795"/>
                    <a:gd name="connsiteY3" fmla="*/ 1194833 h 1194832"/>
                  </a:gdLst>
                  <a:ahLst/>
                  <a:cxnLst>
                    <a:cxn ang="0">
                      <a:pos x="connsiteX0" y="connsiteY0"/>
                    </a:cxn>
                    <a:cxn ang="0">
                      <a:pos x="connsiteX1" y="connsiteY1"/>
                    </a:cxn>
                    <a:cxn ang="0">
                      <a:pos x="connsiteX2" y="connsiteY2"/>
                    </a:cxn>
                    <a:cxn ang="0">
                      <a:pos x="connsiteX3" y="connsiteY3"/>
                    </a:cxn>
                  </a:cxnLst>
                  <a:rect l="l" t="t" r="r" b="b"/>
                  <a:pathLst>
                    <a:path w="412795" h="1194832">
                      <a:moveTo>
                        <a:pt x="412795" y="1070775"/>
                      </a:moveTo>
                      <a:cubicBezTo>
                        <a:pt x="296072" y="765996"/>
                        <a:pt x="296072" y="428837"/>
                        <a:pt x="412795" y="124058"/>
                      </a:cubicBezTo>
                      <a:lnTo>
                        <a:pt x="111954" y="0"/>
                      </a:lnTo>
                      <a:cubicBezTo>
                        <a:pt x="-37318" y="384293"/>
                        <a:pt x="-37318" y="810540"/>
                        <a:pt x="111954" y="1194833"/>
                      </a:cubicBezTo>
                      <a:close/>
                    </a:path>
                  </a:pathLst>
                </a:custGeom>
                <a:solidFill>
                  <a:srgbClr val="808080"/>
                </a:solidFill>
                <a:ln w="77534"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F5CBA5A1-FF88-7DCF-B42C-12D849CC9720}"/>
                    </a:ext>
                  </a:extLst>
                </p:cNvPr>
                <p:cNvSpPr/>
                <p:nvPr/>
              </p:nvSpPr>
              <p:spPr>
                <a:xfrm>
                  <a:off x="4594123" y="1926347"/>
                  <a:ext cx="969202" cy="966101"/>
                </a:xfrm>
                <a:custGeom>
                  <a:avLst/>
                  <a:gdLst>
                    <a:gd name="connsiteX0" fmla="*/ 300065 w 969202"/>
                    <a:gd name="connsiteY0" fmla="*/ 966101 h 966101"/>
                    <a:gd name="connsiteX1" fmla="*/ 969203 w 969202"/>
                    <a:gd name="connsiteY1" fmla="*/ 300840 h 966101"/>
                    <a:gd name="connsiteX2" fmla="*/ 845145 w 969202"/>
                    <a:gd name="connsiteY2" fmla="*/ 0 h 966101"/>
                    <a:gd name="connsiteX3" fmla="*/ 0 w 969202"/>
                    <a:gd name="connsiteY3" fmla="*/ 843594 h 966101"/>
                  </a:gdLst>
                  <a:ahLst/>
                  <a:cxnLst>
                    <a:cxn ang="0">
                      <a:pos x="connsiteX0" y="connsiteY0"/>
                    </a:cxn>
                    <a:cxn ang="0">
                      <a:pos x="connsiteX1" y="connsiteY1"/>
                    </a:cxn>
                    <a:cxn ang="0">
                      <a:pos x="connsiteX2" y="connsiteY2"/>
                    </a:cxn>
                    <a:cxn ang="0">
                      <a:pos x="connsiteX3" y="connsiteY3"/>
                    </a:cxn>
                  </a:cxnLst>
                  <a:rect l="l" t="t" r="r" b="b"/>
                  <a:pathLst>
                    <a:path w="969202" h="966101">
                      <a:moveTo>
                        <a:pt x="300065" y="966101"/>
                      </a:moveTo>
                      <a:cubicBezTo>
                        <a:pt x="433381" y="669378"/>
                        <a:pt x="671712" y="432427"/>
                        <a:pt x="969203" y="300840"/>
                      </a:cubicBezTo>
                      <a:lnTo>
                        <a:pt x="845145" y="0"/>
                      </a:lnTo>
                      <a:cubicBezTo>
                        <a:pt x="467768" y="165501"/>
                        <a:pt x="166191" y="466528"/>
                        <a:pt x="0" y="843594"/>
                      </a:cubicBezTo>
                      <a:close/>
                    </a:path>
                  </a:pathLst>
                </a:custGeom>
                <a:solidFill>
                  <a:srgbClr val="808080"/>
                </a:solidFill>
                <a:ln w="77534"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6038422D-1B7B-1F45-F713-3E2638973D57}"/>
                    </a:ext>
                  </a:extLst>
                </p:cNvPr>
                <p:cNvSpPr/>
                <p:nvPr/>
              </p:nvSpPr>
              <p:spPr>
                <a:xfrm>
                  <a:off x="4594123" y="3977955"/>
                  <a:ext cx="969202" cy="969202"/>
                </a:xfrm>
                <a:custGeom>
                  <a:avLst/>
                  <a:gdLst>
                    <a:gd name="connsiteX0" fmla="*/ 969203 w 969202"/>
                    <a:gd name="connsiteY0" fmla="*/ 669137 h 969202"/>
                    <a:gd name="connsiteX1" fmla="*/ 300065 w 969202"/>
                    <a:gd name="connsiteY1" fmla="*/ 0 h 969202"/>
                    <a:gd name="connsiteX2" fmla="*/ 0 w 969202"/>
                    <a:gd name="connsiteY2" fmla="*/ 124058 h 969202"/>
                    <a:gd name="connsiteX3" fmla="*/ 845145 w 969202"/>
                    <a:gd name="connsiteY3" fmla="*/ 969203 h 969202"/>
                  </a:gdLst>
                  <a:ahLst/>
                  <a:cxnLst>
                    <a:cxn ang="0">
                      <a:pos x="connsiteX0" y="connsiteY0"/>
                    </a:cxn>
                    <a:cxn ang="0">
                      <a:pos x="connsiteX1" y="connsiteY1"/>
                    </a:cxn>
                    <a:cxn ang="0">
                      <a:pos x="connsiteX2" y="connsiteY2"/>
                    </a:cxn>
                    <a:cxn ang="0">
                      <a:pos x="connsiteX3" y="connsiteY3"/>
                    </a:cxn>
                  </a:cxnLst>
                  <a:rect l="l" t="t" r="r" b="b"/>
                  <a:pathLst>
                    <a:path w="969202" h="969202">
                      <a:moveTo>
                        <a:pt x="969203" y="669137"/>
                      </a:moveTo>
                      <a:cubicBezTo>
                        <a:pt x="671363" y="536116"/>
                        <a:pt x="433086" y="297840"/>
                        <a:pt x="300065" y="0"/>
                      </a:cubicBezTo>
                      <a:lnTo>
                        <a:pt x="0" y="124058"/>
                      </a:lnTo>
                      <a:cubicBezTo>
                        <a:pt x="165881" y="501713"/>
                        <a:pt x="467489" y="803329"/>
                        <a:pt x="845145" y="969203"/>
                      </a:cubicBezTo>
                      <a:close/>
                    </a:path>
                  </a:pathLst>
                </a:custGeom>
                <a:solidFill>
                  <a:srgbClr val="808080"/>
                </a:solidFill>
                <a:ln w="77534"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7F219401-FA5F-689E-429B-E6DD9988E9E7}"/>
                    </a:ext>
                  </a:extLst>
                </p:cNvPr>
                <p:cNvSpPr/>
                <p:nvPr/>
              </p:nvSpPr>
              <p:spPr>
                <a:xfrm>
                  <a:off x="5508275" y="1781961"/>
                  <a:ext cx="1193282" cy="412661"/>
                </a:xfrm>
                <a:custGeom>
                  <a:avLst/>
                  <a:gdLst>
                    <a:gd name="connsiteX0" fmla="*/ 0 w 1193282"/>
                    <a:gd name="connsiteY0" fmla="*/ 111821 h 412661"/>
                    <a:gd name="connsiteX1" fmla="*/ 122507 w 1193282"/>
                    <a:gd name="connsiteY1" fmla="*/ 412661 h 412661"/>
                    <a:gd name="connsiteX2" fmla="*/ 1068449 w 1193282"/>
                    <a:gd name="connsiteY2" fmla="*/ 412661 h 412661"/>
                    <a:gd name="connsiteX3" fmla="*/ 1193282 w 1193282"/>
                    <a:gd name="connsiteY3" fmla="*/ 111821 h 412661"/>
                    <a:gd name="connsiteX4" fmla="*/ 0 w 1193282"/>
                    <a:gd name="connsiteY4" fmla="*/ 111821 h 412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3282" h="412661">
                      <a:moveTo>
                        <a:pt x="0" y="111821"/>
                      </a:moveTo>
                      <a:lnTo>
                        <a:pt x="122507" y="412661"/>
                      </a:lnTo>
                      <a:cubicBezTo>
                        <a:pt x="426961" y="295620"/>
                        <a:pt x="763995" y="295620"/>
                        <a:pt x="1068449" y="412661"/>
                      </a:cubicBezTo>
                      <a:lnTo>
                        <a:pt x="1193282" y="111821"/>
                      </a:lnTo>
                      <a:cubicBezTo>
                        <a:pt x="809494" y="-37274"/>
                        <a:pt x="383789" y="-37274"/>
                        <a:pt x="0" y="111821"/>
                      </a:cubicBezTo>
                      <a:close/>
                    </a:path>
                  </a:pathLst>
                </a:custGeom>
                <a:solidFill>
                  <a:srgbClr val="808080"/>
                </a:solidFill>
                <a:ln w="77534"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98AE03AD-5DF8-9D8A-E923-5F99BA3106D9}"/>
                    </a:ext>
                  </a:extLst>
                </p:cNvPr>
                <p:cNvSpPr/>
                <p:nvPr/>
              </p:nvSpPr>
              <p:spPr>
                <a:xfrm>
                  <a:off x="7346658" y="2837397"/>
                  <a:ext cx="412339" cy="1195608"/>
                </a:xfrm>
                <a:custGeom>
                  <a:avLst/>
                  <a:gdLst>
                    <a:gd name="connsiteX0" fmla="*/ 0 w 412339"/>
                    <a:gd name="connsiteY0" fmla="*/ 124058 h 1195608"/>
                    <a:gd name="connsiteX1" fmla="*/ 0 w 412339"/>
                    <a:gd name="connsiteY1" fmla="*/ 1070775 h 1195608"/>
                    <a:gd name="connsiteX2" fmla="*/ 300065 w 412339"/>
                    <a:gd name="connsiteY2" fmla="*/ 1195608 h 1195608"/>
                    <a:gd name="connsiteX3" fmla="*/ 300065 w 412339"/>
                    <a:gd name="connsiteY3" fmla="*/ 0 h 1195608"/>
                  </a:gdLst>
                  <a:ahLst/>
                  <a:cxnLst>
                    <a:cxn ang="0">
                      <a:pos x="connsiteX0" y="connsiteY0"/>
                    </a:cxn>
                    <a:cxn ang="0">
                      <a:pos x="connsiteX1" y="connsiteY1"/>
                    </a:cxn>
                    <a:cxn ang="0">
                      <a:pos x="connsiteX2" y="connsiteY2"/>
                    </a:cxn>
                    <a:cxn ang="0">
                      <a:pos x="connsiteX3" y="connsiteY3"/>
                    </a:cxn>
                  </a:cxnLst>
                  <a:rect l="l" t="t" r="r" b="b"/>
                  <a:pathLst>
                    <a:path w="412339" h="1195608">
                      <a:moveTo>
                        <a:pt x="0" y="124058"/>
                      </a:moveTo>
                      <a:cubicBezTo>
                        <a:pt x="116359" y="428907"/>
                        <a:pt x="116359" y="765926"/>
                        <a:pt x="0" y="1070775"/>
                      </a:cubicBezTo>
                      <a:lnTo>
                        <a:pt x="300065" y="1195608"/>
                      </a:lnTo>
                      <a:cubicBezTo>
                        <a:pt x="449765" y="811129"/>
                        <a:pt x="449765" y="384479"/>
                        <a:pt x="300065" y="0"/>
                      </a:cubicBezTo>
                      <a:close/>
                    </a:path>
                  </a:pathLst>
                </a:custGeom>
                <a:solidFill>
                  <a:srgbClr val="808080"/>
                </a:solidFill>
                <a:ln w="7753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66A2552C-FC60-1B0A-698D-E71BD6D52D77}"/>
                    </a:ext>
                  </a:extLst>
                </p:cNvPr>
                <p:cNvSpPr/>
                <p:nvPr/>
              </p:nvSpPr>
              <p:spPr>
                <a:xfrm>
                  <a:off x="6648833" y="1924796"/>
                  <a:ext cx="969202" cy="971528"/>
                </a:xfrm>
                <a:custGeom>
                  <a:avLst/>
                  <a:gdLst>
                    <a:gd name="connsiteX0" fmla="*/ 0 w 969202"/>
                    <a:gd name="connsiteY0" fmla="*/ 302391 h 971528"/>
                    <a:gd name="connsiteX1" fmla="*/ 669138 w 969202"/>
                    <a:gd name="connsiteY1" fmla="*/ 971529 h 971528"/>
                    <a:gd name="connsiteX2" fmla="*/ 969202 w 969202"/>
                    <a:gd name="connsiteY2" fmla="*/ 845145 h 971528"/>
                    <a:gd name="connsiteX3" fmla="*/ 124058 w 969202"/>
                    <a:gd name="connsiteY3" fmla="*/ 0 h 971528"/>
                  </a:gdLst>
                  <a:ahLst/>
                  <a:cxnLst>
                    <a:cxn ang="0">
                      <a:pos x="connsiteX0" y="connsiteY0"/>
                    </a:cxn>
                    <a:cxn ang="0">
                      <a:pos x="connsiteX1" y="connsiteY1"/>
                    </a:cxn>
                    <a:cxn ang="0">
                      <a:pos x="connsiteX2" y="connsiteY2"/>
                    </a:cxn>
                    <a:cxn ang="0">
                      <a:pos x="connsiteX3" y="connsiteY3"/>
                    </a:cxn>
                  </a:cxnLst>
                  <a:rect l="l" t="t" r="r" b="b"/>
                  <a:pathLst>
                    <a:path w="969202" h="971528">
                      <a:moveTo>
                        <a:pt x="0" y="302391"/>
                      </a:moveTo>
                      <a:cubicBezTo>
                        <a:pt x="297840" y="435412"/>
                        <a:pt x="536116" y="673689"/>
                        <a:pt x="669138" y="971529"/>
                      </a:cubicBezTo>
                      <a:lnTo>
                        <a:pt x="969202" y="845145"/>
                      </a:lnTo>
                      <a:cubicBezTo>
                        <a:pt x="803073" y="467667"/>
                        <a:pt x="501535" y="166129"/>
                        <a:pt x="124058" y="0"/>
                      </a:cubicBezTo>
                      <a:close/>
                    </a:path>
                  </a:pathLst>
                </a:custGeom>
                <a:solidFill>
                  <a:srgbClr val="808080"/>
                </a:solidFill>
                <a:ln w="7753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E908BA0C-15A8-865A-3473-FEC91C4F5A3A}"/>
                    </a:ext>
                  </a:extLst>
                </p:cNvPr>
                <p:cNvSpPr/>
                <p:nvPr/>
              </p:nvSpPr>
              <p:spPr>
                <a:xfrm>
                  <a:off x="5508275" y="4675781"/>
                  <a:ext cx="1194833" cy="412298"/>
                </a:xfrm>
                <a:custGeom>
                  <a:avLst/>
                  <a:gdLst>
                    <a:gd name="connsiteX0" fmla="*/ 1070775 w 1194833"/>
                    <a:gd name="connsiteY0" fmla="*/ 0 h 412298"/>
                    <a:gd name="connsiteX1" fmla="*/ 124058 w 1194833"/>
                    <a:gd name="connsiteY1" fmla="*/ 0 h 412298"/>
                    <a:gd name="connsiteX2" fmla="*/ 0 w 1194833"/>
                    <a:gd name="connsiteY2" fmla="*/ 300065 h 412298"/>
                    <a:gd name="connsiteX3" fmla="*/ 1194833 w 1194833"/>
                    <a:gd name="connsiteY3" fmla="*/ 300065 h 412298"/>
                  </a:gdLst>
                  <a:ahLst/>
                  <a:cxnLst>
                    <a:cxn ang="0">
                      <a:pos x="connsiteX0" y="connsiteY0"/>
                    </a:cxn>
                    <a:cxn ang="0">
                      <a:pos x="connsiteX1" y="connsiteY1"/>
                    </a:cxn>
                    <a:cxn ang="0">
                      <a:pos x="connsiteX2" y="connsiteY2"/>
                    </a:cxn>
                    <a:cxn ang="0">
                      <a:pos x="connsiteX3" y="connsiteY3"/>
                    </a:cxn>
                  </a:cxnLst>
                  <a:rect l="l" t="t" r="r" b="b"/>
                  <a:pathLst>
                    <a:path w="1194833" h="412298">
                      <a:moveTo>
                        <a:pt x="1070775" y="0"/>
                      </a:moveTo>
                      <a:cubicBezTo>
                        <a:pt x="765926" y="116359"/>
                        <a:pt x="428907" y="116359"/>
                        <a:pt x="124058" y="0"/>
                      </a:cubicBezTo>
                      <a:lnTo>
                        <a:pt x="0" y="300065"/>
                      </a:lnTo>
                      <a:cubicBezTo>
                        <a:pt x="384223" y="449710"/>
                        <a:pt x="810610" y="449710"/>
                        <a:pt x="1194833" y="300065"/>
                      </a:cubicBezTo>
                      <a:close/>
                    </a:path>
                  </a:pathLst>
                </a:custGeom>
                <a:solidFill>
                  <a:srgbClr val="808080"/>
                </a:solidFill>
                <a:ln w="77534"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1643254D-ED3F-CA90-178E-9E08BB9B8493}"/>
                    </a:ext>
                  </a:extLst>
                </p:cNvPr>
                <p:cNvSpPr/>
                <p:nvPr/>
              </p:nvSpPr>
              <p:spPr>
                <a:xfrm>
                  <a:off x="6648833" y="3977955"/>
                  <a:ext cx="969202" cy="969202"/>
                </a:xfrm>
                <a:custGeom>
                  <a:avLst/>
                  <a:gdLst>
                    <a:gd name="connsiteX0" fmla="*/ 669138 w 969202"/>
                    <a:gd name="connsiteY0" fmla="*/ 0 h 969202"/>
                    <a:gd name="connsiteX1" fmla="*/ 0 w 969202"/>
                    <a:gd name="connsiteY1" fmla="*/ 669137 h 969202"/>
                    <a:gd name="connsiteX2" fmla="*/ 124058 w 969202"/>
                    <a:gd name="connsiteY2" fmla="*/ 969203 h 969202"/>
                    <a:gd name="connsiteX3" fmla="*/ 969202 w 969202"/>
                    <a:gd name="connsiteY3" fmla="*/ 124058 h 969202"/>
                  </a:gdLst>
                  <a:ahLst/>
                  <a:cxnLst>
                    <a:cxn ang="0">
                      <a:pos x="connsiteX0" y="connsiteY0"/>
                    </a:cxn>
                    <a:cxn ang="0">
                      <a:pos x="connsiteX1" y="connsiteY1"/>
                    </a:cxn>
                    <a:cxn ang="0">
                      <a:pos x="connsiteX2" y="connsiteY2"/>
                    </a:cxn>
                    <a:cxn ang="0">
                      <a:pos x="connsiteX3" y="connsiteY3"/>
                    </a:cxn>
                  </a:cxnLst>
                  <a:rect l="l" t="t" r="r" b="b"/>
                  <a:pathLst>
                    <a:path w="969202" h="969202">
                      <a:moveTo>
                        <a:pt x="669138" y="0"/>
                      </a:moveTo>
                      <a:cubicBezTo>
                        <a:pt x="535628" y="297506"/>
                        <a:pt x="297506" y="535628"/>
                        <a:pt x="0" y="669137"/>
                      </a:cubicBezTo>
                      <a:lnTo>
                        <a:pt x="124058" y="969203"/>
                      </a:lnTo>
                      <a:cubicBezTo>
                        <a:pt x="501713" y="803329"/>
                        <a:pt x="803322" y="501713"/>
                        <a:pt x="969202" y="124058"/>
                      </a:cubicBezTo>
                      <a:close/>
                    </a:path>
                  </a:pathLst>
                </a:custGeom>
                <a:solidFill>
                  <a:srgbClr val="808080"/>
                </a:solidFill>
                <a:ln w="77534" cap="flat">
                  <a:noFill/>
                  <a:prstDash val="solid"/>
                  <a:miter/>
                </a:ln>
              </p:spPr>
              <p:txBody>
                <a:bodyPr rtlCol="0" anchor="ctr"/>
                <a:lstStyle/>
                <a:p>
                  <a:endParaRPr lang="en-IN"/>
                </a:p>
              </p:txBody>
            </p:sp>
          </p:grpSp>
          <p:grpSp>
            <p:nvGrpSpPr>
              <p:cNvPr id="36" name="Graphic 5">
                <a:extLst>
                  <a:ext uri="{FF2B5EF4-FFF2-40B4-BE49-F238E27FC236}">
                    <a16:creationId xmlns:a16="http://schemas.microsoft.com/office/drawing/2014/main" id="{F0AC46B1-58FF-0F4E-D155-7E0D1D9EC917}"/>
                  </a:ext>
                </a:extLst>
              </p:cNvPr>
              <p:cNvGrpSpPr/>
              <p:nvPr/>
            </p:nvGrpSpPr>
            <p:grpSpPr>
              <a:xfrm>
                <a:off x="4445618" y="1774740"/>
                <a:ext cx="3320299" cy="3321286"/>
                <a:chOff x="4445618" y="1774740"/>
                <a:chExt cx="3320299" cy="3321286"/>
              </a:xfrm>
              <a:solidFill>
                <a:srgbClr val="FFFFFF"/>
              </a:solidFill>
            </p:grpSpPr>
            <p:sp>
              <p:nvSpPr>
                <p:cNvPr id="37" name="Freeform: Shape 36">
                  <a:extLst>
                    <a:ext uri="{FF2B5EF4-FFF2-40B4-BE49-F238E27FC236}">
                      <a16:creationId xmlns:a16="http://schemas.microsoft.com/office/drawing/2014/main" id="{3343A401-181B-00EA-C510-FB3C7879BFD6}"/>
                    </a:ext>
                  </a:extLst>
                </p:cNvPr>
                <p:cNvSpPr/>
                <p:nvPr/>
              </p:nvSpPr>
              <p:spPr>
                <a:xfrm>
                  <a:off x="4445618" y="2835071"/>
                  <a:ext cx="126019" cy="1200260"/>
                </a:xfrm>
                <a:custGeom>
                  <a:avLst/>
                  <a:gdLst>
                    <a:gd name="connsiteX0" fmla="*/ 112838 w 126019"/>
                    <a:gd name="connsiteY0" fmla="*/ 1200260 h 1200260"/>
                    <a:gd name="connsiteX1" fmla="*/ 112838 w 126019"/>
                    <a:gd name="connsiteY1" fmla="*/ 0 h 1200260"/>
                    <a:gd name="connsiteX2" fmla="*/ 126020 w 126019"/>
                    <a:gd name="connsiteY2" fmla="*/ 4652 h 1200260"/>
                    <a:gd name="connsiteX3" fmla="*/ 126020 w 126019"/>
                    <a:gd name="connsiteY3" fmla="*/ 1194833 h 1200260"/>
                  </a:gdLst>
                  <a:ahLst/>
                  <a:cxnLst>
                    <a:cxn ang="0">
                      <a:pos x="connsiteX0" y="connsiteY0"/>
                    </a:cxn>
                    <a:cxn ang="0">
                      <a:pos x="connsiteX1" y="connsiteY1"/>
                    </a:cxn>
                    <a:cxn ang="0">
                      <a:pos x="connsiteX2" y="connsiteY2"/>
                    </a:cxn>
                    <a:cxn ang="0">
                      <a:pos x="connsiteX3" y="connsiteY3"/>
                    </a:cxn>
                  </a:cxnLst>
                  <a:rect l="l" t="t" r="r" b="b"/>
                  <a:pathLst>
                    <a:path w="126019" h="1200260">
                      <a:moveTo>
                        <a:pt x="112838" y="1200260"/>
                      </a:moveTo>
                      <a:cubicBezTo>
                        <a:pt x="-37613" y="814316"/>
                        <a:pt x="-37613" y="385944"/>
                        <a:pt x="112838" y="0"/>
                      </a:cubicBezTo>
                      <a:lnTo>
                        <a:pt x="126020" y="4652"/>
                      </a:lnTo>
                      <a:cubicBezTo>
                        <a:pt x="-22873" y="387409"/>
                        <a:pt x="-22873" y="812075"/>
                        <a:pt x="126020" y="1194833"/>
                      </a:cubicBezTo>
                      <a:close/>
                    </a:path>
                  </a:pathLst>
                </a:custGeom>
                <a:solidFill>
                  <a:srgbClr val="FFFFFF"/>
                </a:solidFill>
                <a:ln w="77534"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5487F1AC-DB08-2C27-E295-F72346618BC4}"/>
                    </a:ext>
                  </a:extLst>
                </p:cNvPr>
                <p:cNvSpPr/>
                <p:nvPr/>
              </p:nvSpPr>
              <p:spPr>
                <a:xfrm>
                  <a:off x="4587145" y="1917043"/>
                  <a:ext cx="854448" cy="852898"/>
                </a:xfrm>
                <a:custGeom>
                  <a:avLst/>
                  <a:gdLst>
                    <a:gd name="connsiteX0" fmla="*/ 13181 w 854448"/>
                    <a:gd name="connsiteY0" fmla="*/ 852898 h 852898"/>
                    <a:gd name="connsiteX1" fmla="*/ 0 w 854448"/>
                    <a:gd name="connsiteY1" fmla="*/ 847471 h 852898"/>
                    <a:gd name="connsiteX2" fmla="*/ 849021 w 854448"/>
                    <a:gd name="connsiteY2" fmla="*/ 0 h 852898"/>
                    <a:gd name="connsiteX3" fmla="*/ 854449 w 854448"/>
                    <a:gd name="connsiteY3" fmla="*/ 13181 h 852898"/>
                    <a:gd name="connsiteX4" fmla="*/ 13181 w 854448"/>
                    <a:gd name="connsiteY4" fmla="*/ 852898 h 85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48" h="852898">
                      <a:moveTo>
                        <a:pt x="13181" y="852898"/>
                      </a:moveTo>
                      <a:lnTo>
                        <a:pt x="0" y="847471"/>
                      </a:lnTo>
                      <a:cubicBezTo>
                        <a:pt x="167160" y="468807"/>
                        <a:pt x="470056" y="166470"/>
                        <a:pt x="849021" y="0"/>
                      </a:cubicBezTo>
                      <a:lnTo>
                        <a:pt x="854449" y="13181"/>
                      </a:lnTo>
                      <a:cubicBezTo>
                        <a:pt x="478926" y="178093"/>
                        <a:pt x="178791" y="477677"/>
                        <a:pt x="13181" y="852898"/>
                      </a:cubicBezTo>
                      <a:close/>
                    </a:path>
                  </a:pathLst>
                </a:custGeom>
                <a:solidFill>
                  <a:srgbClr val="FFFFFF"/>
                </a:solidFill>
                <a:ln w="77534"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239D4A8E-2E96-E06D-6372-5D0B5B729996}"/>
                    </a:ext>
                  </a:extLst>
                </p:cNvPr>
                <p:cNvSpPr/>
                <p:nvPr/>
              </p:nvSpPr>
              <p:spPr>
                <a:xfrm>
                  <a:off x="4583268" y="4098911"/>
                  <a:ext cx="858325" cy="854449"/>
                </a:xfrm>
                <a:custGeom>
                  <a:avLst/>
                  <a:gdLst>
                    <a:gd name="connsiteX0" fmla="*/ 852898 w 858325"/>
                    <a:gd name="connsiteY0" fmla="*/ 854449 h 854449"/>
                    <a:gd name="connsiteX1" fmla="*/ 0 w 858325"/>
                    <a:gd name="connsiteY1" fmla="*/ 6203 h 854449"/>
                    <a:gd name="connsiteX2" fmla="*/ 13181 w 858325"/>
                    <a:gd name="connsiteY2" fmla="*/ 0 h 854449"/>
                    <a:gd name="connsiteX3" fmla="*/ 858326 w 858325"/>
                    <a:gd name="connsiteY3" fmla="*/ 842043 h 854449"/>
                  </a:gdLst>
                  <a:ahLst/>
                  <a:cxnLst>
                    <a:cxn ang="0">
                      <a:pos x="connsiteX0" y="connsiteY0"/>
                    </a:cxn>
                    <a:cxn ang="0">
                      <a:pos x="connsiteX1" y="connsiteY1"/>
                    </a:cxn>
                    <a:cxn ang="0">
                      <a:pos x="connsiteX2" y="connsiteY2"/>
                    </a:cxn>
                    <a:cxn ang="0">
                      <a:pos x="connsiteX3" y="connsiteY3"/>
                    </a:cxn>
                  </a:cxnLst>
                  <a:rect l="l" t="t" r="r" b="b"/>
                  <a:pathLst>
                    <a:path w="858325" h="854449">
                      <a:moveTo>
                        <a:pt x="852898" y="854449"/>
                      </a:moveTo>
                      <a:cubicBezTo>
                        <a:pt x="472382" y="688521"/>
                        <a:pt x="168005" y="385812"/>
                        <a:pt x="0" y="6203"/>
                      </a:cubicBezTo>
                      <a:lnTo>
                        <a:pt x="13181" y="0"/>
                      </a:lnTo>
                      <a:cubicBezTo>
                        <a:pt x="179380" y="376702"/>
                        <a:pt x="481011" y="677232"/>
                        <a:pt x="858326" y="842043"/>
                      </a:cubicBezTo>
                      <a:close/>
                    </a:path>
                  </a:pathLst>
                </a:custGeom>
                <a:solidFill>
                  <a:srgbClr val="FFFFFF"/>
                </a:solidFill>
                <a:ln w="7753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B440D03-A863-E5D4-83AD-9F93E815B51B}"/>
                    </a:ext>
                  </a:extLst>
                </p:cNvPr>
                <p:cNvSpPr/>
                <p:nvPr/>
              </p:nvSpPr>
              <p:spPr>
                <a:xfrm>
                  <a:off x="5505949" y="1774740"/>
                  <a:ext cx="1200260" cy="126019"/>
                </a:xfrm>
                <a:custGeom>
                  <a:avLst/>
                  <a:gdLst>
                    <a:gd name="connsiteX0" fmla="*/ 4652 w 1200260"/>
                    <a:gd name="connsiteY0" fmla="*/ 126020 h 126019"/>
                    <a:gd name="connsiteX1" fmla="*/ 0 w 1200260"/>
                    <a:gd name="connsiteY1" fmla="*/ 112838 h 126019"/>
                    <a:gd name="connsiteX2" fmla="*/ 1200260 w 1200260"/>
                    <a:gd name="connsiteY2" fmla="*/ 112838 h 126019"/>
                    <a:gd name="connsiteX3" fmla="*/ 1194833 w 1200260"/>
                    <a:gd name="connsiteY3" fmla="*/ 126020 h 126019"/>
                    <a:gd name="connsiteX4" fmla="*/ 4652 w 1200260"/>
                    <a:gd name="connsiteY4" fmla="*/ 126020 h 12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0260" h="126019">
                      <a:moveTo>
                        <a:pt x="4652" y="126020"/>
                      </a:moveTo>
                      <a:lnTo>
                        <a:pt x="0" y="112838"/>
                      </a:lnTo>
                      <a:cubicBezTo>
                        <a:pt x="385944" y="-37613"/>
                        <a:pt x="814316" y="-37613"/>
                        <a:pt x="1200260" y="112838"/>
                      </a:cubicBezTo>
                      <a:lnTo>
                        <a:pt x="1194833" y="126020"/>
                      </a:lnTo>
                      <a:cubicBezTo>
                        <a:pt x="812075" y="-22873"/>
                        <a:pt x="387410" y="-22873"/>
                        <a:pt x="4652" y="126020"/>
                      </a:cubicBezTo>
                      <a:close/>
                    </a:path>
                  </a:pathLst>
                </a:custGeom>
                <a:solidFill>
                  <a:srgbClr val="FFFFFF"/>
                </a:solidFill>
                <a:ln w="77534"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7EE3F9E9-19D1-61AB-6B1F-B0B0E760DFDB}"/>
                    </a:ext>
                  </a:extLst>
                </p:cNvPr>
                <p:cNvSpPr/>
                <p:nvPr/>
              </p:nvSpPr>
              <p:spPr>
                <a:xfrm>
                  <a:off x="7640520" y="2835071"/>
                  <a:ext cx="125397" cy="1200260"/>
                </a:xfrm>
                <a:custGeom>
                  <a:avLst/>
                  <a:gdLst>
                    <a:gd name="connsiteX0" fmla="*/ 13181 w 125397"/>
                    <a:gd name="connsiteY0" fmla="*/ 1200260 h 1200260"/>
                    <a:gd name="connsiteX1" fmla="*/ 0 w 125397"/>
                    <a:gd name="connsiteY1" fmla="*/ 1194833 h 1200260"/>
                    <a:gd name="connsiteX2" fmla="*/ 0 w 125397"/>
                    <a:gd name="connsiteY2" fmla="*/ 4652 h 1200260"/>
                    <a:gd name="connsiteX3" fmla="*/ 13181 w 125397"/>
                    <a:gd name="connsiteY3" fmla="*/ 0 h 1200260"/>
                    <a:gd name="connsiteX4" fmla="*/ 13181 w 125397"/>
                    <a:gd name="connsiteY4" fmla="*/ 1200260 h 1200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97" h="1200260">
                      <a:moveTo>
                        <a:pt x="13181" y="1200260"/>
                      </a:moveTo>
                      <a:lnTo>
                        <a:pt x="0" y="1194833"/>
                      </a:lnTo>
                      <a:cubicBezTo>
                        <a:pt x="148893" y="812075"/>
                        <a:pt x="148893" y="387409"/>
                        <a:pt x="0" y="4652"/>
                      </a:cubicBezTo>
                      <a:lnTo>
                        <a:pt x="13181" y="0"/>
                      </a:lnTo>
                      <a:cubicBezTo>
                        <a:pt x="162803" y="386099"/>
                        <a:pt x="162803" y="814161"/>
                        <a:pt x="13181" y="1200260"/>
                      </a:cubicBezTo>
                      <a:close/>
                    </a:path>
                  </a:pathLst>
                </a:custGeom>
                <a:solidFill>
                  <a:srgbClr val="FFFFFF"/>
                </a:solidFill>
                <a:ln w="77534"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5642410C-94C3-A185-4DDA-44E200FD8F6A}"/>
                    </a:ext>
                  </a:extLst>
                </p:cNvPr>
                <p:cNvSpPr/>
                <p:nvPr/>
              </p:nvSpPr>
              <p:spPr>
                <a:xfrm>
                  <a:off x="6769789" y="1916267"/>
                  <a:ext cx="854448" cy="853673"/>
                </a:xfrm>
                <a:custGeom>
                  <a:avLst/>
                  <a:gdLst>
                    <a:gd name="connsiteX0" fmla="*/ 842044 w 854448"/>
                    <a:gd name="connsiteY0" fmla="*/ 853674 h 853673"/>
                    <a:gd name="connsiteX1" fmla="*/ 0 w 854448"/>
                    <a:gd name="connsiteY1" fmla="*/ 13181 h 853673"/>
                    <a:gd name="connsiteX2" fmla="*/ 6203 w 854448"/>
                    <a:gd name="connsiteY2" fmla="*/ 0 h 853673"/>
                    <a:gd name="connsiteX3" fmla="*/ 854449 w 854448"/>
                    <a:gd name="connsiteY3" fmla="*/ 852898 h 853673"/>
                  </a:gdLst>
                  <a:ahLst/>
                  <a:cxnLst>
                    <a:cxn ang="0">
                      <a:pos x="connsiteX0" y="connsiteY0"/>
                    </a:cxn>
                    <a:cxn ang="0">
                      <a:pos x="connsiteX1" y="connsiteY1"/>
                    </a:cxn>
                    <a:cxn ang="0">
                      <a:pos x="connsiteX2" y="connsiteY2"/>
                    </a:cxn>
                    <a:cxn ang="0">
                      <a:pos x="connsiteX3" y="connsiteY3"/>
                    </a:cxn>
                  </a:cxnLst>
                  <a:rect l="l" t="t" r="r" b="b"/>
                  <a:pathLst>
                    <a:path w="854448" h="853673">
                      <a:moveTo>
                        <a:pt x="842044" y="853674"/>
                      </a:moveTo>
                      <a:cubicBezTo>
                        <a:pt x="676534" y="477941"/>
                        <a:pt x="376043" y="178000"/>
                        <a:pt x="0" y="13181"/>
                      </a:cubicBezTo>
                      <a:lnTo>
                        <a:pt x="6203" y="0"/>
                      </a:lnTo>
                      <a:cubicBezTo>
                        <a:pt x="386115" y="167556"/>
                        <a:pt x="688971" y="472071"/>
                        <a:pt x="854449" y="852898"/>
                      </a:cubicBezTo>
                      <a:close/>
                    </a:path>
                  </a:pathLst>
                </a:custGeom>
                <a:solidFill>
                  <a:srgbClr val="FFFFFF"/>
                </a:solidFill>
                <a:ln w="7753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315AFE1E-99E7-4E3C-F849-B7FB7B365A50}"/>
                    </a:ext>
                  </a:extLst>
                </p:cNvPr>
                <p:cNvSpPr/>
                <p:nvPr/>
              </p:nvSpPr>
              <p:spPr>
                <a:xfrm>
                  <a:off x="5505949" y="4970418"/>
                  <a:ext cx="1200260" cy="125608"/>
                </a:xfrm>
                <a:custGeom>
                  <a:avLst/>
                  <a:gdLst>
                    <a:gd name="connsiteX0" fmla="*/ 600130 w 1200260"/>
                    <a:gd name="connsiteY0" fmla="*/ 125609 h 125608"/>
                    <a:gd name="connsiteX1" fmla="*/ 0 w 1200260"/>
                    <a:gd name="connsiteY1" fmla="*/ 13182 h 125608"/>
                    <a:gd name="connsiteX2" fmla="*/ 4652 w 1200260"/>
                    <a:gd name="connsiteY2" fmla="*/ 0 h 125608"/>
                    <a:gd name="connsiteX3" fmla="*/ 1194833 w 1200260"/>
                    <a:gd name="connsiteY3" fmla="*/ 0 h 125608"/>
                    <a:gd name="connsiteX4" fmla="*/ 1200260 w 1200260"/>
                    <a:gd name="connsiteY4" fmla="*/ 13182 h 125608"/>
                    <a:gd name="connsiteX5" fmla="*/ 600130 w 1200260"/>
                    <a:gd name="connsiteY5" fmla="*/ 125609 h 12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0260" h="125608">
                      <a:moveTo>
                        <a:pt x="600130" y="125609"/>
                      </a:moveTo>
                      <a:cubicBezTo>
                        <a:pt x="394876" y="125330"/>
                        <a:pt x="191437" y="87213"/>
                        <a:pt x="0" y="13182"/>
                      </a:cubicBezTo>
                      <a:lnTo>
                        <a:pt x="4652" y="0"/>
                      </a:lnTo>
                      <a:cubicBezTo>
                        <a:pt x="387410" y="148893"/>
                        <a:pt x="812075" y="148893"/>
                        <a:pt x="1194833" y="0"/>
                      </a:cubicBezTo>
                      <a:lnTo>
                        <a:pt x="1200260" y="13182"/>
                      </a:lnTo>
                      <a:cubicBezTo>
                        <a:pt x="1008800" y="87128"/>
                        <a:pt x="805376" y="125237"/>
                        <a:pt x="600130" y="125609"/>
                      </a:cubicBezTo>
                      <a:close/>
                    </a:path>
                  </a:pathLst>
                </a:custGeom>
                <a:solidFill>
                  <a:srgbClr val="FFFFFF"/>
                </a:solidFill>
                <a:ln w="77534"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6FD8DCB2-3836-E31D-22B3-526739E394A8}"/>
                    </a:ext>
                  </a:extLst>
                </p:cNvPr>
                <p:cNvSpPr/>
                <p:nvPr/>
              </p:nvSpPr>
              <p:spPr>
                <a:xfrm>
                  <a:off x="6769789" y="4098911"/>
                  <a:ext cx="854448" cy="854449"/>
                </a:xfrm>
                <a:custGeom>
                  <a:avLst/>
                  <a:gdLst>
                    <a:gd name="connsiteX0" fmla="*/ 6203 w 854448"/>
                    <a:gd name="connsiteY0" fmla="*/ 854449 h 854449"/>
                    <a:gd name="connsiteX1" fmla="*/ 0 w 854448"/>
                    <a:gd name="connsiteY1" fmla="*/ 842043 h 854449"/>
                    <a:gd name="connsiteX2" fmla="*/ 842044 w 854448"/>
                    <a:gd name="connsiteY2" fmla="*/ 0 h 854449"/>
                    <a:gd name="connsiteX3" fmla="*/ 854449 w 854448"/>
                    <a:gd name="connsiteY3" fmla="*/ 6203 h 854449"/>
                    <a:gd name="connsiteX4" fmla="*/ 6203 w 854448"/>
                    <a:gd name="connsiteY4" fmla="*/ 854449 h 854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448" h="854449">
                      <a:moveTo>
                        <a:pt x="6203" y="854449"/>
                      </a:moveTo>
                      <a:lnTo>
                        <a:pt x="0" y="842043"/>
                      </a:lnTo>
                      <a:cubicBezTo>
                        <a:pt x="376229" y="676728"/>
                        <a:pt x="676721" y="376229"/>
                        <a:pt x="842044" y="0"/>
                      </a:cubicBezTo>
                      <a:lnTo>
                        <a:pt x="854449" y="6203"/>
                      </a:lnTo>
                      <a:cubicBezTo>
                        <a:pt x="687886" y="385192"/>
                        <a:pt x="385192" y="687886"/>
                        <a:pt x="6203" y="854449"/>
                      </a:cubicBezTo>
                      <a:close/>
                    </a:path>
                  </a:pathLst>
                </a:custGeom>
                <a:solidFill>
                  <a:srgbClr val="FFFFFF"/>
                </a:solidFill>
                <a:ln w="77534" cap="flat">
                  <a:noFill/>
                  <a:prstDash val="solid"/>
                  <a:miter/>
                </a:ln>
              </p:spPr>
              <p:txBody>
                <a:bodyPr rtlCol="0" anchor="ctr"/>
                <a:lstStyle/>
                <a:p>
                  <a:endParaRPr lang="en-IN"/>
                </a:p>
              </p:txBody>
            </p:sp>
          </p:grpSp>
        </p:grpSp>
        <p:sp>
          <p:nvSpPr>
            <p:cNvPr id="10" name="TextBox 9">
              <a:extLst>
                <a:ext uri="{FF2B5EF4-FFF2-40B4-BE49-F238E27FC236}">
                  <a16:creationId xmlns:a16="http://schemas.microsoft.com/office/drawing/2014/main" id="{9712075A-1BBA-5F5F-DA65-2C9056C70BE3}"/>
                </a:ext>
              </a:extLst>
            </p:cNvPr>
            <p:cNvSpPr txBox="1"/>
            <p:nvPr/>
          </p:nvSpPr>
          <p:spPr>
            <a:xfrm>
              <a:off x="3296149" y="801931"/>
              <a:ext cx="1350309" cy="741394"/>
            </a:xfrm>
            <a:prstGeom prst="rect">
              <a:avLst/>
            </a:prstGeom>
            <a:noFill/>
          </p:spPr>
          <p:txBody>
            <a:bodyPr wrap="square">
              <a:spAutoFit/>
            </a:bodyPr>
            <a:lstStyle/>
            <a:p>
              <a:r>
                <a:rPr lang="en-US" sz="1600" dirty="0">
                  <a:solidFill>
                    <a:schemeClr val="bg1"/>
                  </a:solidFill>
                </a:rPr>
                <a:t>No analyst fatigue</a:t>
              </a:r>
            </a:p>
          </p:txBody>
        </p:sp>
        <p:sp>
          <p:nvSpPr>
            <p:cNvPr id="11" name="TextBox 10">
              <a:extLst>
                <a:ext uri="{FF2B5EF4-FFF2-40B4-BE49-F238E27FC236}">
                  <a16:creationId xmlns:a16="http://schemas.microsoft.com/office/drawing/2014/main" id="{95AEE8D8-B270-A589-0857-E45C9C32CFE1}"/>
                </a:ext>
              </a:extLst>
            </p:cNvPr>
            <p:cNvSpPr txBox="1"/>
            <p:nvPr/>
          </p:nvSpPr>
          <p:spPr>
            <a:xfrm>
              <a:off x="5195492" y="1228585"/>
              <a:ext cx="1103925" cy="1599852"/>
            </a:xfrm>
            <a:prstGeom prst="rect">
              <a:avLst/>
            </a:prstGeom>
            <a:noFill/>
          </p:spPr>
          <p:txBody>
            <a:bodyPr wrap="square">
              <a:spAutoFit/>
            </a:bodyPr>
            <a:lstStyle/>
            <a:p>
              <a:r>
                <a:rPr lang="en-US" sz="1600" dirty="0">
                  <a:solidFill>
                    <a:schemeClr val="bg1"/>
                  </a:solidFill>
                </a:rPr>
                <a:t>Same every run</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8C8109B1-0691-5155-2690-D95F87E88691}"/>
                </a:ext>
              </a:extLst>
            </p:cNvPr>
            <p:cNvSpPr txBox="1"/>
            <p:nvPr/>
          </p:nvSpPr>
          <p:spPr>
            <a:xfrm>
              <a:off x="5761066" y="2860467"/>
              <a:ext cx="1282367" cy="1599852"/>
            </a:xfrm>
            <a:prstGeom prst="rect">
              <a:avLst/>
            </a:prstGeom>
            <a:noFill/>
          </p:spPr>
          <p:txBody>
            <a:bodyPr wrap="square">
              <a:spAutoFit/>
            </a:bodyPr>
            <a:lstStyle/>
            <a:p>
              <a:r>
                <a:rPr lang="en-US" sz="1600" dirty="0">
                  <a:solidFill>
                    <a:schemeClr val="bg1"/>
                  </a:solidFill>
                </a:rPr>
                <a:t>Zero human error</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9AC776DD-CD07-1B9E-D9B5-E438625D49D5}"/>
                </a:ext>
              </a:extLst>
            </p:cNvPr>
            <p:cNvSpPr txBox="1"/>
            <p:nvPr/>
          </p:nvSpPr>
          <p:spPr>
            <a:xfrm>
              <a:off x="4938256" y="4602464"/>
              <a:ext cx="1511990" cy="1599852"/>
            </a:xfrm>
            <a:prstGeom prst="rect">
              <a:avLst/>
            </a:prstGeom>
            <a:noFill/>
          </p:spPr>
          <p:txBody>
            <a:bodyPr wrap="square">
              <a:spAutoFit/>
            </a:bodyPr>
            <a:lstStyle/>
            <a:p>
              <a:r>
                <a:rPr lang="en-US" sz="1600" dirty="0">
                  <a:solidFill>
                    <a:schemeClr val="bg1"/>
                  </a:solidFill>
                </a:rPr>
                <a:t>24/7 continuous operation</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67AE74E1-79DB-78FC-22E7-1AAE8D4E968D}"/>
                </a:ext>
              </a:extLst>
            </p:cNvPr>
            <p:cNvSpPr txBox="1"/>
            <p:nvPr/>
          </p:nvSpPr>
          <p:spPr>
            <a:xfrm>
              <a:off x="3368998" y="5232631"/>
              <a:ext cx="1511990" cy="1599852"/>
            </a:xfrm>
            <a:prstGeom prst="rect">
              <a:avLst/>
            </a:prstGeom>
            <a:noFill/>
          </p:spPr>
          <p:txBody>
            <a:bodyPr wrap="square">
              <a:spAutoFit/>
            </a:bodyPr>
            <a:lstStyle/>
            <a:p>
              <a:r>
                <a:rPr lang="en-US" sz="1600" dirty="0">
                  <a:solidFill>
                    <a:schemeClr val="bg1"/>
                  </a:solidFill>
                </a:rPr>
                <a:t>No shift handoff gaps</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A13F9F3F-7F2D-6E4D-0A95-CA2913F3A83C}"/>
                </a:ext>
              </a:extLst>
            </p:cNvPr>
            <p:cNvSpPr txBox="1"/>
            <p:nvPr/>
          </p:nvSpPr>
          <p:spPr>
            <a:xfrm>
              <a:off x="1541760" y="4645644"/>
              <a:ext cx="1649599" cy="1599852"/>
            </a:xfrm>
            <a:prstGeom prst="rect">
              <a:avLst/>
            </a:prstGeom>
            <a:noFill/>
          </p:spPr>
          <p:txBody>
            <a:bodyPr wrap="square">
              <a:spAutoFit/>
            </a:bodyPr>
            <a:lstStyle/>
            <a:p>
              <a:r>
                <a:rPr lang="en-US" sz="1600" dirty="0">
                  <a:solidFill>
                    <a:schemeClr val="bg1"/>
                  </a:solidFill>
                </a:rPr>
                <a:t>Reproducible results always</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0C649A4B-EA0D-1114-8CF1-0041FE980FAC}"/>
                </a:ext>
              </a:extLst>
            </p:cNvPr>
            <p:cNvSpPr txBox="1"/>
            <p:nvPr/>
          </p:nvSpPr>
          <p:spPr>
            <a:xfrm>
              <a:off x="907241" y="2924834"/>
              <a:ext cx="1511990" cy="1599852"/>
            </a:xfrm>
            <a:prstGeom prst="rect">
              <a:avLst/>
            </a:prstGeom>
            <a:noFill/>
          </p:spPr>
          <p:txBody>
            <a:bodyPr wrap="square">
              <a:spAutoFit/>
            </a:bodyPr>
            <a:lstStyle/>
            <a:p>
              <a:r>
                <a:rPr lang="en-US" sz="1600" dirty="0">
                  <a:solidFill>
                    <a:schemeClr val="bg1"/>
                  </a:solidFill>
                </a:rPr>
                <a:t>Predictable response every time</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sp>
          <p:nvSpPr>
            <p:cNvPr id="17" name="TextBox 16">
              <a:extLst>
                <a:ext uri="{FF2B5EF4-FFF2-40B4-BE49-F238E27FC236}">
                  <a16:creationId xmlns:a16="http://schemas.microsoft.com/office/drawing/2014/main" id="{68482F16-5EED-CB6B-1FAC-4648DFBB26D5}"/>
                </a:ext>
              </a:extLst>
            </p:cNvPr>
            <p:cNvSpPr txBox="1"/>
            <p:nvPr/>
          </p:nvSpPr>
          <p:spPr>
            <a:xfrm>
              <a:off x="1628772" y="1382055"/>
              <a:ext cx="1511990" cy="1287686"/>
            </a:xfrm>
            <a:prstGeom prst="rect">
              <a:avLst/>
            </a:prstGeom>
            <a:noFill/>
          </p:spPr>
          <p:txBody>
            <a:bodyPr wrap="square">
              <a:spAutoFit/>
            </a:bodyPr>
            <a:lstStyle/>
            <a:p>
              <a:r>
                <a:rPr lang="en-US" sz="1600" dirty="0">
                  <a:solidFill>
                    <a:schemeClr val="tx2"/>
                  </a:solidFill>
                </a:rPr>
                <a:t>No missed alerts</a:t>
              </a:r>
            </a:p>
            <a:p>
              <a:br>
                <a:rPr lang="en-US" sz="1400" dirty="0"/>
              </a:br>
              <a:endParaRPr lang="en-GB" sz="1400" dirty="0">
                <a:solidFill>
                  <a:schemeClr val="bg1"/>
                </a:solidFill>
                <a:latin typeface="Segoe UI" panose="020B0502040204020203" pitchFamily="34" charset="0"/>
                <a:cs typeface="Segoe UI" panose="020B0502040204020203" pitchFamily="34" charset="0"/>
              </a:endParaRPr>
            </a:p>
          </p:txBody>
        </p:sp>
        <p:pic>
          <p:nvPicPr>
            <p:cNvPr id="18" name="Picture 17" descr="A black background with a black square&#10;&#10;Description automatically generated with medium confidence">
              <a:extLst>
                <a:ext uri="{FF2B5EF4-FFF2-40B4-BE49-F238E27FC236}">
                  <a16:creationId xmlns:a16="http://schemas.microsoft.com/office/drawing/2014/main" id="{C327AF36-E746-B0FD-A86E-6A7A1A2DB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4840" y="2831075"/>
              <a:ext cx="1194213" cy="1194213"/>
            </a:xfrm>
            <a:prstGeom prst="rect">
              <a:avLst/>
            </a:prstGeom>
          </p:spPr>
        </p:pic>
      </p:grpSp>
    </p:spTree>
    <p:extLst>
      <p:ext uri="{BB962C8B-B14F-4D97-AF65-F5344CB8AC3E}">
        <p14:creationId xmlns:p14="http://schemas.microsoft.com/office/powerpoint/2010/main" val="39571326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43C1-7A54-AA0A-13F3-595B60FA1887}"/>
              </a:ext>
            </a:extLst>
          </p:cNvPr>
          <p:cNvSpPr>
            <a:spLocks noGrp="1"/>
          </p:cNvSpPr>
          <p:nvPr>
            <p:ph type="title"/>
          </p:nvPr>
        </p:nvSpPr>
        <p:spPr>
          <a:xfrm>
            <a:off x="838200" y="446405"/>
            <a:ext cx="10515600" cy="1325563"/>
          </a:xfrm>
        </p:spPr>
        <p:txBody>
          <a:bodyPr/>
          <a:lstStyle/>
          <a:p>
            <a:pPr algn="ctr"/>
            <a:r>
              <a:rPr lang="en-US" dirty="0">
                <a:solidFill>
                  <a:schemeClr val="tx2"/>
                </a:solidFill>
                <a:latin typeface="Deltha" pitchFamily="50" charset="0"/>
              </a:rPr>
              <a:t>CONCLUSION</a:t>
            </a:r>
          </a:p>
        </p:txBody>
      </p:sp>
      <p:sp>
        <p:nvSpPr>
          <p:cNvPr id="3" name="Content Placeholder 2">
            <a:extLst>
              <a:ext uri="{FF2B5EF4-FFF2-40B4-BE49-F238E27FC236}">
                <a16:creationId xmlns:a16="http://schemas.microsoft.com/office/drawing/2014/main" id="{5861AB4B-DDA9-ADF2-0AD6-B16E8F1CD704}"/>
              </a:ext>
            </a:extLst>
          </p:cNvPr>
          <p:cNvSpPr>
            <a:spLocks noGrp="1"/>
          </p:cNvSpPr>
          <p:nvPr>
            <p:ph idx="1"/>
          </p:nvPr>
        </p:nvSpPr>
        <p:spPr>
          <a:xfrm>
            <a:off x="838200" y="2766218"/>
            <a:ext cx="10515600" cy="1325563"/>
          </a:xfrm>
        </p:spPr>
        <p:txBody>
          <a:bodyPr/>
          <a:lstStyle/>
          <a:p>
            <a:pPr marL="0" indent="0">
              <a:buNone/>
            </a:pPr>
            <a:r>
              <a:rPr lang="en-US" i="1" dirty="0"/>
              <a:t>"Detection without response is just notification. Response without automation is just exhaustion. Automation without intelligence is just noise. This project delivered all three."</a:t>
            </a:r>
            <a:endParaRPr lang="en-US" dirty="0"/>
          </a:p>
        </p:txBody>
      </p:sp>
      <p:pic>
        <p:nvPicPr>
          <p:cNvPr id="5" name="Picture 4">
            <a:extLst>
              <a:ext uri="{FF2B5EF4-FFF2-40B4-BE49-F238E27FC236}">
                <a16:creationId xmlns:a16="http://schemas.microsoft.com/office/drawing/2014/main" id="{53F01969-BE36-EF20-3724-D95F0B3255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5400991"/>
            <a:ext cx="623889" cy="623889"/>
          </a:xfrm>
          <a:prstGeom prst="rect">
            <a:avLst/>
          </a:prstGeom>
        </p:spPr>
      </p:pic>
      <p:pic>
        <p:nvPicPr>
          <p:cNvPr id="7" name="Picture 6">
            <a:extLst>
              <a:ext uri="{FF2B5EF4-FFF2-40B4-BE49-F238E27FC236}">
                <a16:creationId xmlns:a16="http://schemas.microsoft.com/office/drawing/2014/main" id="{35A420A5-26FD-ED5B-88ED-463FF8EFF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8369">
            <a:off x="10284016" y="5156421"/>
            <a:ext cx="783437" cy="783437"/>
          </a:xfrm>
          <a:prstGeom prst="rect">
            <a:avLst/>
          </a:prstGeom>
        </p:spPr>
      </p:pic>
      <p:pic>
        <p:nvPicPr>
          <p:cNvPr id="14" name="Picture 13">
            <a:extLst>
              <a:ext uri="{FF2B5EF4-FFF2-40B4-BE49-F238E27FC236}">
                <a16:creationId xmlns:a16="http://schemas.microsoft.com/office/drawing/2014/main" id="{6B46B7E1-B943-91BA-178C-EB9503D963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877744">
            <a:off x="663916" y="537118"/>
            <a:ext cx="972456" cy="972456"/>
          </a:xfrm>
          <a:prstGeom prst="rect">
            <a:avLst/>
          </a:prstGeom>
        </p:spPr>
      </p:pic>
      <p:pic>
        <p:nvPicPr>
          <p:cNvPr id="11" name="Picture 10">
            <a:extLst>
              <a:ext uri="{FF2B5EF4-FFF2-40B4-BE49-F238E27FC236}">
                <a16:creationId xmlns:a16="http://schemas.microsoft.com/office/drawing/2014/main" id="{2CCD2C19-A4BD-7AC7-BD58-BDFDECCAC4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80183" y="1497187"/>
            <a:ext cx="634920" cy="634920"/>
          </a:xfrm>
          <a:prstGeom prst="rect">
            <a:avLst/>
          </a:prstGeom>
        </p:spPr>
      </p:pic>
      <p:pic>
        <p:nvPicPr>
          <p:cNvPr id="13" name="Picture 12">
            <a:extLst>
              <a:ext uri="{FF2B5EF4-FFF2-40B4-BE49-F238E27FC236}">
                <a16:creationId xmlns:a16="http://schemas.microsoft.com/office/drawing/2014/main" id="{1745BE52-9FFE-D899-1D28-ECB4A04401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685240">
            <a:off x="5691359" y="5392589"/>
            <a:ext cx="809283" cy="809283"/>
          </a:xfrm>
          <a:prstGeom prst="rect">
            <a:avLst/>
          </a:prstGeom>
        </p:spPr>
      </p:pic>
    </p:spTree>
    <p:extLst>
      <p:ext uri="{BB962C8B-B14F-4D97-AF65-F5344CB8AC3E}">
        <p14:creationId xmlns:p14="http://schemas.microsoft.com/office/powerpoint/2010/main" val="3004694677"/>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2925</TotalTime>
  <Words>864</Words>
  <Application>Microsoft Office PowerPoint</Application>
  <PresentationFormat>Widescreen</PresentationFormat>
  <Paragraphs>127</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Deltha</vt:lpstr>
      <vt:lpstr>Equinox Bold</vt:lpstr>
      <vt:lpstr>Impact</vt:lpstr>
      <vt:lpstr>quote-cjk-patch</vt:lpstr>
      <vt:lpstr>Segoe UI</vt:lpstr>
      <vt:lpstr>Office Theme</vt:lpstr>
      <vt:lpstr>SOC Lab: Wazuh SIEM</vt:lpstr>
      <vt:lpstr>Cyber sentinel: Wazuh SIEM</vt:lpstr>
      <vt:lpstr>PowerPoint Presentation</vt:lpstr>
      <vt:lpstr>SECURITY</vt:lpstr>
      <vt:lpstr>INFORMATION</vt:lpstr>
      <vt:lpstr>Event</vt:lpstr>
      <vt:lpstr>Management</vt:lpstr>
      <vt:lpstr>PowerPoint Presentation</vt:lpstr>
      <vt:lpstr>PowerPoint Presentation</vt:lpstr>
      <vt:lpstr>MITRE ATT&amp;CK Framework</vt:lpstr>
      <vt:lpstr>Threat Hunting</vt:lpstr>
      <vt:lpstr>Malware Detection</vt:lpstr>
      <vt:lpstr>Vulnerability Assessment</vt:lpstr>
      <vt:lpstr>SOAR</vt:lpstr>
      <vt:lpstr>PowerPoint Presentation</vt:lpstr>
      <vt:lpstr>SOAR workflow</vt:lpstr>
      <vt:lpstr>Analyst Time Saved</vt:lpstr>
      <vt:lpstr>Consistency and Reliability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InfoTech</dc:creator>
  <cp:lastModifiedBy>InfoTech</cp:lastModifiedBy>
  <cp:revision>68</cp:revision>
  <dcterms:created xsi:type="dcterms:W3CDTF">2026-06-08T17:58:50Z</dcterms:created>
  <dcterms:modified xsi:type="dcterms:W3CDTF">2026-06-11T07:14:28Z</dcterms:modified>
</cp:coreProperties>
</file>